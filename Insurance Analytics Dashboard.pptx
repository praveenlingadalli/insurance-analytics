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5" r:id="rId1"/>
  </p:sldMasterIdLst>
  <p:notesMasterIdLst>
    <p:notesMasterId r:id="rId17"/>
  </p:notesMasterIdLst>
  <p:sldIdLst>
    <p:sldId id="256" r:id="rId2"/>
    <p:sldId id="257" r:id="rId3"/>
    <p:sldId id="261" r:id="rId4"/>
    <p:sldId id="260" r:id="rId5"/>
    <p:sldId id="263" r:id="rId6"/>
    <p:sldId id="264" r:id="rId7"/>
    <p:sldId id="265" r:id="rId8"/>
    <p:sldId id="269" r:id="rId9"/>
    <p:sldId id="270" r:id="rId10"/>
    <p:sldId id="268" r:id="rId11"/>
    <p:sldId id="266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etan\Documents\40%20Data_Analyst\70_Project\01_Ecxel\Dashboard_Policy%20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etan\Documents\40%20Data_Analyst\70_Project\01_Ecxel\Dashboard_Policy%20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[Dashboard_Policy Data.xlsx]PivotChartTable5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N" sz="900">
                <a:solidFill>
                  <a:schemeClr val="tx2"/>
                </a:solidFill>
              </a:rPr>
              <a:t>Genderwise Policy Count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</c:pivotFmt>
      <c:pivotFmt>
        <c:idx val="10"/>
      </c:pivotFmt>
      <c:pivotFmt>
        <c:idx val="11"/>
      </c:pivotFmt>
      <c:pivotFmt>
        <c:idx val="12"/>
      </c:pivotFmt>
      <c:pivotFmt>
        <c:idx val="13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chemeClr val="accent3">
              <a:shade val="65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20710050326509435"/>
              <c:y val="-1.7610058532645339E-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5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14497035228556612"/>
              <c:y val="0.1496854975274852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6"/>
        <c:spPr>
          <a:solidFill>
            <a:schemeClr val="accent3">
              <a:tint val="65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7603542777533021"/>
              <c:y val="-4.4025146331613349E-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3"/>
          </a:solidFill>
          <a:ln w="22225"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8"/>
        <c:spPr>
          <a:solidFill>
            <a:schemeClr val="accent3">
              <a:shade val="65000"/>
            </a:schemeClr>
          </a:solidFill>
          <a:ln w="22225"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12426030195905662"/>
              <c:y val="-0.12327040972851737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9"/>
        <c:spPr>
          <a:solidFill>
            <a:schemeClr val="accent3">
              <a:tint val="65000"/>
            </a:schemeClr>
          </a:solidFill>
          <a:ln w="22225"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8.2840201306037739E-2"/>
              <c:y val="-0.1496854975274854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20"/>
        <c:spPr>
          <a:solidFill>
            <a:schemeClr val="accent3"/>
          </a:solidFill>
          <a:ln w="22225"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27958567940787726"/>
              <c:y val="3.0817602432129342E-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21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22"/>
        <c:spPr>
          <a:solidFill>
            <a:schemeClr val="accent3">
              <a:shade val="65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20710050326509435"/>
              <c:y val="-1.7610058532645339E-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23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14497035228556612"/>
              <c:y val="0.1496854975274852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24"/>
        <c:spPr>
          <a:solidFill>
            <a:schemeClr val="accent3">
              <a:tint val="65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7603542777533021"/>
              <c:y val="-4.4025146331613349E-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25"/>
        <c:spPr>
          <a:solidFill>
            <a:schemeClr val="accent3"/>
          </a:solidFill>
          <a:ln w="22225"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26"/>
        <c:spPr>
          <a:solidFill>
            <a:schemeClr val="accent3">
              <a:shade val="65000"/>
            </a:schemeClr>
          </a:solidFill>
          <a:ln w="22225"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12426030195905662"/>
              <c:y val="-0.12327040972851737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27"/>
        <c:spPr>
          <a:solidFill>
            <a:schemeClr val="accent3"/>
          </a:solidFill>
          <a:ln w="22225"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27958567940787726"/>
              <c:y val="3.0817602432129342E-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28"/>
        <c:spPr>
          <a:solidFill>
            <a:schemeClr val="accent3">
              <a:tint val="65000"/>
            </a:schemeClr>
          </a:solidFill>
          <a:ln w="22225"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8.2840201306037739E-2"/>
              <c:y val="-0.1496854975274854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29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30"/>
        <c:spPr>
          <a:solidFill>
            <a:schemeClr val="accent3">
              <a:shade val="65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20710050326509435"/>
              <c:y val="-1.7610058532645339E-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31"/>
        <c:spPr>
          <a:solidFill>
            <a:schemeClr val="accent3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14497035228556612"/>
              <c:y val="0.1496854975274852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32"/>
        <c:spPr>
          <a:solidFill>
            <a:schemeClr val="accent3">
              <a:tint val="65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7603542777533021"/>
              <c:y val="-4.4025146331613349E-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33"/>
        <c:spPr>
          <a:solidFill>
            <a:schemeClr val="accent3"/>
          </a:solidFill>
          <a:ln w="22225"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34"/>
        <c:spPr>
          <a:solidFill>
            <a:schemeClr val="accent3">
              <a:shade val="65000"/>
            </a:schemeClr>
          </a:solidFill>
          <a:ln w="22225"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12426030195905662"/>
              <c:y val="-0.12327040972851737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35"/>
        <c:spPr>
          <a:solidFill>
            <a:schemeClr val="accent3"/>
          </a:solidFill>
          <a:ln w="22225"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27958567940787726"/>
              <c:y val="3.0817602432129342E-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36"/>
        <c:spPr>
          <a:solidFill>
            <a:schemeClr val="accent3">
              <a:tint val="65000"/>
            </a:schemeClr>
          </a:solidFill>
          <a:ln w="22225"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8.2840201306037739E-2"/>
              <c:y val="-0.14968549752748542"/>
            </c:manualLayout>
          </c:layout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</c:pivotFmts>
    <c:plotArea>
      <c:layout/>
      <c:doughnutChart>
        <c:varyColors val="1"/>
        <c:ser>
          <c:idx val="0"/>
          <c:order val="0"/>
          <c:tx>
            <c:v>Count of Gender</c:v>
          </c:tx>
          <c:dPt>
            <c:idx val="0"/>
            <c:bubble3D val="0"/>
            <c:spPr>
              <a:solidFill>
                <a:schemeClr val="accent3">
                  <a:shade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0B7-4BE3-8642-C6FF8829CCD7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0B7-4BE3-8642-C6FF8829CCD7}"/>
              </c:ext>
            </c:extLst>
          </c:dPt>
          <c:dPt>
            <c:idx val="2"/>
            <c:bubble3D val="0"/>
            <c:spPr>
              <a:solidFill>
                <a:schemeClr val="accent3">
                  <a:tint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0B7-4BE3-8642-C6FF8829CCD7}"/>
              </c:ext>
            </c:extLst>
          </c:dPt>
          <c:dLbls>
            <c:dLbl>
              <c:idx val="0"/>
              <c:layout>
                <c:manualLayout>
                  <c:x val="0.20710050326509435"/>
                  <c:y val="-1.7610058532645339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0B7-4BE3-8642-C6FF8829CCD7}"/>
                </c:ext>
              </c:extLst>
            </c:dLbl>
            <c:dLbl>
              <c:idx val="1"/>
              <c:layout>
                <c:manualLayout>
                  <c:x val="0.14497035228556612"/>
                  <c:y val="0.1496854975274852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0B7-4BE3-8642-C6FF8829CCD7}"/>
                </c:ext>
              </c:extLst>
            </c:dLbl>
            <c:dLbl>
              <c:idx val="2"/>
              <c:layout>
                <c:manualLayout>
                  <c:x val="-0.17603542777533021"/>
                  <c:y val="-4.402514633161334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borderCallout2">
                      <a:avLst/>
                    </a:prstGeom>
                    <a:pattFill prst="pct75">
                      <a:fgClr>
                        <a:schemeClr val="dk1">
                          <a:lumMod val="75000"/>
                          <a:lumOff val="25000"/>
                        </a:schemeClr>
                      </a:fgClr>
                      <a:bgClr>
                        <a:schemeClr val="dk1">
                          <a:lumMod val="65000"/>
                          <a:lumOff val="35000"/>
                        </a:schemeClr>
                      </a:bgClr>
                    </a:pattFill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A0B7-4BE3-8642-C6FF8829CC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Lit>
              <c:ptCount val="3"/>
              <c:pt idx="0">
                <c:v>Female</c:v>
              </c:pt>
              <c:pt idx="1">
                <c:v>Male</c:v>
              </c:pt>
              <c:pt idx="2">
                <c:v>Other</c:v>
              </c:pt>
            </c:strLit>
          </c:cat>
          <c:val>
            <c:numLit>
              <c:formatCode>General</c:formatCode>
              <c:ptCount val="3"/>
              <c:pt idx="0">
                <c:v>1640</c:v>
              </c:pt>
              <c:pt idx="1">
                <c:v>1705</c:v>
              </c:pt>
              <c:pt idx="2">
                <c:v>1655</c:v>
              </c:pt>
            </c:numLit>
          </c:val>
          <c:extLst>
            <c:ext xmlns:c16="http://schemas.microsoft.com/office/drawing/2014/chart" uri="{C3380CC4-5D6E-409C-BE32-E72D297353CC}">
              <c16:uniqueId val="{00000006-A0B7-4BE3-8642-C6FF8829CCD7}"/>
            </c:ext>
          </c:extLst>
        </c:ser>
        <c:ser>
          <c:idx val="1"/>
          <c:order val="1"/>
          <c:tx>
            <c:v>Count of Gender2</c:v>
          </c:tx>
          <c:spPr>
            <a:ln w="22225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3">
                  <a:shade val="65000"/>
                </a:schemeClr>
              </a:solidFill>
              <a:ln w="22225">
                <a:solidFill>
                  <a:schemeClr val="bg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A0B7-4BE3-8642-C6FF8829CCD7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22225">
                <a:solidFill>
                  <a:schemeClr val="bg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A0B7-4BE3-8642-C6FF8829CCD7}"/>
              </c:ext>
            </c:extLst>
          </c:dPt>
          <c:dPt>
            <c:idx val="2"/>
            <c:bubble3D val="0"/>
            <c:spPr>
              <a:solidFill>
                <a:schemeClr val="accent3">
                  <a:tint val="65000"/>
                </a:schemeClr>
              </a:solidFill>
              <a:ln w="22225">
                <a:solidFill>
                  <a:schemeClr val="bg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A0B7-4BE3-8642-C6FF8829CCD7}"/>
              </c:ext>
            </c:extLst>
          </c:dPt>
          <c:dLbls>
            <c:dLbl>
              <c:idx val="0"/>
              <c:layout>
                <c:manualLayout>
                  <c:x val="0.12426030195905662"/>
                  <c:y val="-0.1232704097285173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0B7-4BE3-8642-C6FF8829CCD7}"/>
                </c:ext>
              </c:extLst>
            </c:dLbl>
            <c:dLbl>
              <c:idx val="1"/>
              <c:layout>
                <c:manualLayout>
                  <c:x val="0.27958567940787726"/>
                  <c:y val="3.08176024321293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0B7-4BE3-8642-C6FF8829CCD7}"/>
                </c:ext>
              </c:extLst>
            </c:dLbl>
            <c:dLbl>
              <c:idx val="2"/>
              <c:layout>
                <c:manualLayout>
                  <c:x val="-8.2840201306037739E-2"/>
                  <c:y val="-0.1496854975274854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0B7-4BE3-8642-C6FF8829CC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Lit>
              <c:ptCount val="3"/>
              <c:pt idx="0">
                <c:v>Female</c:v>
              </c:pt>
              <c:pt idx="1">
                <c:v>Male</c:v>
              </c:pt>
              <c:pt idx="2">
                <c:v>Other</c:v>
              </c:pt>
            </c:strLit>
          </c:cat>
          <c:val>
            <c:numLit>
              <c:formatCode>General</c:formatCode>
              <c:ptCount val="3"/>
              <c:pt idx="0">
                <c:v>1640</c:v>
              </c:pt>
              <c:pt idx="1">
                <c:v>1705</c:v>
              </c:pt>
              <c:pt idx="2">
                <c:v>1655</c:v>
              </c:pt>
            </c:numLit>
          </c:val>
          <c:extLst>
            <c:ext xmlns:c16="http://schemas.microsoft.com/office/drawing/2014/chart" uri="{C3380CC4-5D6E-409C-BE32-E72D297353CC}">
              <c16:uniqueId val="{0000000D-A0B7-4BE3-8642-C6FF8829CC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solidFill>
        <a:schemeClr val="tx2">
          <a:lumMod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[Dashboard_Policy Data.xlsx]PivotChartTable2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800" b="0" i="0" u="none" strike="noStrike" kern="1200" cap="none" spc="2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N" sz="800" b="1">
                <a:solidFill>
                  <a:schemeClr val="tx2"/>
                </a:solidFill>
              </a:rPr>
              <a:t>Policy Type vs Policy Count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800" b="0" i="0" u="none" strike="noStrike" kern="1200" cap="none" spc="2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35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9525" cap="flat" cmpd="sng" algn="ctr">
            <a:noFill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solidFill>
              <a:schemeClr val="lt1"/>
            </a:soli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downArrow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38100" cap="rnd" cmpd="sng" algn="ctr">
            <a:solidFill>
              <a:srgbClr val="FFFF00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35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9525" cap="flat" cmpd="sng" algn="ctr">
            <a:noFill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solidFill>
              <a:schemeClr val="lt1"/>
            </a:soli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downArrow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38100" cap="rnd" cmpd="sng" algn="ctr">
            <a:solidFill>
              <a:srgbClr val="FFFF00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35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9525" cap="flat" cmpd="sng" algn="ctr">
            <a:noFill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solidFill>
              <a:schemeClr val="lt1"/>
            </a:solidFill>
            <a:ln>
              <a:solidFill>
                <a:schemeClr val="dk1">
                  <a:lumMod val="25000"/>
                  <a:lumOff val="75000"/>
                </a:scheme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downArrow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tint val="48000"/>
                  <a:alpha val="88000"/>
                  <a:satMod val="105000"/>
                  <a:lumMod val="110000"/>
                </a:schemeClr>
              </a:gs>
              <a:gs pos="100000">
                <a:schemeClr val="accent1">
                  <a:tint val="78000"/>
                  <a:alpha val="92000"/>
                  <a:satMod val="109000"/>
                  <a:lumMod val="100000"/>
                </a:schemeClr>
              </a:gs>
            </a:gsLst>
            <a:lin ang="5400000" scaled="0"/>
          </a:gradFill>
          <a:ln w="38100" cap="rnd" cmpd="sng" algn="ctr">
            <a:solidFill>
              <a:srgbClr val="FFFF00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Count of Policy Type</c:v>
          </c:tx>
          <c:spPr>
            <a:gradFill flip="none" rotWithShape="1">
              <a:gsLst>
                <a:gs pos="0">
                  <a:schemeClr val="accent5">
                    <a:lumMod val="20000"/>
                    <a:lumOff val="80000"/>
                  </a:schemeClr>
                </a:gs>
                <a:gs pos="35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 w="9525" cap="flat" cmpd="sng" algn="ctr">
              <a:noFill/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downArrow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Lit>
              <c:ptCount val="4"/>
              <c:pt idx="0">
                <c:v>Auto</c:v>
              </c:pt>
              <c:pt idx="1">
                <c:v>Health</c:v>
              </c:pt>
              <c:pt idx="2">
                <c:v>Life</c:v>
              </c:pt>
              <c:pt idx="3">
                <c:v>Property</c:v>
              </c:pt>
            </c:strLit>
          </c:cat>
          <c:val>
            <c:numLit>
              <c:formatCode>General</c:formatCode>
              <c:ptCount val="4"/>
              <c:pt idx="0">
                <c:v>1214</c:v>
              </c:pt>
              <c:pt idx="1">
                <c:v>1316</c:v>
              </c:pt>
              <c:pt idx="2">
                <c:v>1234</c:v>
              </c:pt>
              <c:pt idx="3">
                <c:v>1236</c:v>
              </c:pt>
            </c:numLit>
          </c:val>
          <c:extLst>
            <c:ext xmlns:c16="http://schemas.microsoft.com/office/drawing/2014/chart" uri="{C3380CC4-5D6E-409C-BE32-E72D297353CC}">
              <c16:uniqueId val="{00000000-B88A-4833-83CD-011CABC03E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0"/>
        <c:axId val="1903273600"/>
        <c:axId val="1251835408"/>
      </c:barChart>
      <c:lineChart>
        <c:grouping val="standard"/>
        <c:varyColors val="0"/>
        <c:ser>
          <c:idx val="1"/>
          <c:order val="1"/>
          <c:tx>
            <c:v>Count of Policy ID</c:v>
          </c:tx>
          <c:spPr>
            <a:ln w="38100" cap="rnd">
              <a:solidFill>
                <a:srgbClr val="FFFF00"/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Lit>
              <c:ptCount val="4"/>
              <c:pt idx="0">
                <c:v>Auto</c:v>
              </c:pt>
              <c:pt idx="1">
                <c:v>Health</c:v>
              </c:pt>
              <c:pt idx="2">
                <c:v>Life</c:v>
              </c:pt>
              <c:pt idx="3">
                <c:v>Property</c:v>
              </c:pt>
            </c:strLit>
          </c:cat>
          <c:val>
            <c:numLit>
              <c:formatCode>General</c:formatCode>
              <c:ptCount val="4"/>
              <c:pt idx="0">
                <c:v>1207</c:v>
              </c:pt>
              <c:pt idx="1">
                <c:v>1350</c:v>
              </c:pt>
              <c:pt idx="2">
                <c:v>1220</c:v>
              </c:pt>
              <c:pt idx="3">
                <c:v>1223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B88A-4833-83CD-011CABC03E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03273600"/>
        <c:axId val="1251835408"/>
      </c:lineChart>
      <c:catAx>
        <c:axId val="1903273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1835408"/>
        <c:crosses val="autoZero"/>
        <c:auto val="1"/>
        <c:lblAlgn val="ctr"/>
        <c:lblOffset val="100"/>
        <c:noMultiLvlLbl val="0"/>
        <c:extLst/>
      </c:catAx>
      <c:valAx>
        <c:axId val="12518354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03273600"/>
        <c:crosses val="autoZero"/>
        <c:crossBetween val="between"/>
        <c:extLst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2">
          <a:lumMod val="75000"/>
        </a:schemeClr>
      </a:solidFill>
      <a:round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100" baseline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Rounded MT Bold" panose="020F0704030504030204" pitchFamily="34" charset="0"/>
                <a:ea typeface="+mn-ea"/>
                <a:cs typeface="+mn-cs"/>
              </a:defRPr>
            </a:pPr>
            <a:r>
              <a:rPr lang="en-US" sz="1200" b="0">
                <a:solidFill>
                  <a:schemeClr val="tx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Policy End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100" baseline="0"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Rounded MT Bold" panose="020F070403050403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rgbClr val="FFFF00"/>
              </a:gs>
              <a:gs pos="100000">
                <a:srgbClr val="FFC000"/>
              </a:gs>
            </a:gsLst>
            <a:lin ang="5400000" scaled="1"/>
          </a:gradFill>
          <a:ln>
            <a:gradFill>
              <a:gsLst>
                <a:gs pos="0">
                  <a:srgbClr val="FFFF00"/>
                </a:gs>
                <a:gs pos="100000">
                  <a:srgbClr val="FFC000"/>
                </a:gs>
              </a:gsLst>
              <a:lin ang="5400000" scaled="1"/>
            </a:gra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rgbClr val="FFFF00"/>
              </a:gs>
              <a:gs pos="100000">
                <a:srgbClr val="FFC000"/>
              </a:gs>
            </a:gsLst>
            <a:lin ang="5400000" scaled="1"/>
          </a:gradFill>
          <a:ln>
            <a:gradFill>
              <a:gsLst>
                <a:gs pos="0">
                  <a:srgbClr val="FFFF00"/>
                </a:gs>
                <a:gs pos="100000">
                  <a:srgbClr val="FFC000"/>
                </a:gs>
              </a:gsLst>
              <a:lin ang="5400000" scaled="1"/>
            </a:gra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rgbClr val="FFFF00"/>
              </a:gs>
              <a:gs pos="100000">
                <a:srgbClr val="FFC000"/>
              </a:gs>
            </a:gsLst>
            <a:lin ang="5400000" scaled="1"/>
          </a:gradFill>
          <a:ln>
            <a:gradFill>
              <a:gsLst>
                <a:gs pos="0">
                  <a:srgbClr val="FFFF00"/>
                </a:gs>
                <a:gs pos="100000">
                  <a:srgbClr val="FFC000"/>
                </a:gs>
              </a:gsLst>
              <a:lin ang="5400000" scaled="1"/>
            </a:gra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gradFill rotWithShape="1">
              <a:gsLst>
                <a:gs pos="0">
                  <a:schemeClr val="accent6">
                    <a:tint val="98000"/>
                    <a:satMod val="110000"/>
                    <a:lumMod val="104000"/>
                  </a:schemeClr>
                </a:gs>
                <a:gs pos="69000">
                  <a:schemeClr val="accent6">
                    <a:shade val="84000"/>
                    <a:satMod val="130000"/>
                    <a:lumMod val="92000"/>
                  </a:schemeClr>
                </a:gs>
                <a:gs pos="100000">
                  <a:schemeClr val="accent6">
                    <a:shade val="76000"/>
                    <a:satMod val="130000"/>
                    <a:lumMod val="8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Lit>
              <c:ptCount val="19"/>
              <c:pt idx="0">
                <c:v>2016</c:v>
              </c:pt>
              <c:pt idx="1">
                <c:v>2017</c:v>
              </c:pt>
              <c:pt idx="2">
                <c:v>2018</c:v>
              </c:pt>
              <c:pt idx="3">
                <c:v>2019</c:v>
              </c:pt>
              <c:pt idx="4">
                <c:v>2020</c:v>
              </c:pt>
              <c:pt idx="5">
                <c:v>2021</c:v>
              </c:pt>
              <c:pt idx="6">
                <c:v>2022</c:v>
              </c:pt>
              <c:pt idx="7">
                <c:v>2023</c:v>
              </c:pt>
              <c:pt idx="8">
                <c:v>2024</c:v>
              </c:pt>
              <c:pt idx="9">
                <c:v>2025</c:v>
              </c:pt>
              <c:pt idx="10">
                <c:v>2026</c:v>
              </c:pt>
              <c:pt idx="11">
                <c:v>2027</c:v>
              </c:pt>
              <c:pt idx="12">
                <c:v>2028</c:v>
              </c:pt>
              <c:pt idx="13">
                <c:v>2029</c:v>
              </c:pt>
              <c:pt idx="14">
                <c:v>2030</c:v>
              </c:pt>
              <c:pt idx="15">
                <c:v>2031</c:v>
              </c:pt>
              <c:pt idx="16">
                <c:v>2032</c:v>
              </c:pt>
              <c:pt idx="17">
                <c:v>2033</c:v>
              </c:pt>
              <c:pt idx="18">
                <c:v>2034</c:v>
              </c:pt>
            </c:strLit>
          </c:cat>
          <c:val>
            <c:numLit>
              <c:formatCode>General</c:formatCode>
              <c:ptCount val="19"/>
              <c:pt idx="0">
                <c:v>25</c:v>
              </c:pt>
              <c:pt idx="1">
                <c:v>77</c:v>
              </c:pt>
              <c:pt idx="2">
                <c:v>142</c:v>
              </c:pt>
              <c:pt idx="3">
                <c:v>178</c:v>
              </c:pt>
              <c:pt idx="4">
                <c:v>262</c:v>
              </c:pt>
              <c:pt idx="5">
                <c:v>309</c:v>
              </c:pt>
              <c:pt idx="6">
                <c:v>371</c:v>
              </c:pt>
              <c:pt idx="7">
                <c:v>418</c:v>
              </c:pt>
              <c:pt idx="8">
                <c:v>454</c:v>
              </c:pt>
              <c:pt idx="9">
                <c:v>526</c:v>
              </c:pt>
              <c:pt idx="10">
                <c:v>453</c:v>
              </c:pt>
              <c:pt idx="11">
                <c:v>422</c:v>
              </c:pt>
              <c:pt idx="12">
                <c:v>346</c:v>
              </c:pt>
              <c:pt idx="13">
                <c:v>330</c:v>
              </c:pt>
              <c:pt idx="14">
                <c:v>254</c:v>
              </c:pt>
              <c:pt idx="15">
                <c:v>184</c:v>
              </c:pt>
              <c:pt idx="16">
                <c:v>134</c:v>
              </c:pt>
              <c:pt idx="17">
                <c:v>82</c:v>
              </c:pt>
              <c:pt idx="18">
                <c:v>33</c:v>
              </c:pt>
            </c:numLit>
          </c:val>
          <c:extLst>
            <c:ext xmlns:c16="http://schemas.microsoft.com/office/drawing/2014/chart" uri="{C3380CC4-5D6E-409C-BE32-E72D297353CC}">
              <c16:uniqueId val="{00000000-7AC1-4B01-8766-CA1CC380EB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913258560"/>
        <c:axId val="908888560"/>
      </c:barChart>
      <c:catAx>
        <c:axId val="91325856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8888560"/>
        <c:crosses val="autoZero"/>
        <c:auto val="1"/>
        <c:lblAlgn val="ctr"/>
        <c:lblOffset val="100"/>
        <c:noMultiLvlLbl val="0"/>
        <c:extLst/>
      </c:catAx>
      <c:valAx>
        <c:axId val="90888856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3258560"/>
        <c:crosses val="autoZero"/>
        <c:crossBetween val="between"/>
        <c:extLst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>
          <a:lumMod val="75000"/>
          <a:alpha val="98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200" b="0" i="0" u="none" strike="noStrike" kern="1200" spc="100" baseline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Rounded MT Bold" panose="020F0704030504030204" pitchFamily="34" charset="0"/>
                <a:ea typeface="+mn-ea"/>
                <a:cs typeface="+mn-cs"/>
              </a:defRPr>
            </a:pPr>
            <a:r>
              <a:rPr lang="en-IN" sz="1200" b="0" i="0" u="none" strike="noStrike" kern="1200" spc="100" baseline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Rounded MT Bold" panose="020F0704030504030204" pitchFamily="34" charset="0"/>
                <a:ea typeface="+mn-ea"/>
                <a:cs typeface="+mn-cs"/>
              </a:rPr>
              <a:t>Premium Growth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200" b="0" i="0" u="none" strike="noStrike" kern="1200" spc="100" baseline="0"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Rounded MT Bold" panose="020F070403050403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flip="none" rotWithShape="1">
            <a:gsLst>
              <a:gs pos="50000">
                <a:srgbClr val="00B050"/>
              </a:gs>
              <a:gs pos="100000">
                <a:srgbClr val="79F79D"/>
              </a:gs>
            </a:gsLst>
            <a:lin ang="162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flip="none" rotWithShape="1">
            <a:gsLst>
              <a:gs pos="50000">
                <a:srgbClr val="00B050"/>
              </a:gs>
              <a:gs pos="100000">
                <a:srgbClr val="79F79D"/>
              </a:gs>
            </a:gsLst>
            <a:lin ang="162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flip="none" rotWithShape="1">
            <a:gsLst>
              <a:gs pos="50000">
                <a:srgbClr val="00B050"/>
              </a:gs>
              <a:gs pos="100000">
                <a:srgbClr val="79F79D"/>
              </a:gs>
            </a:gsLst>
            <a:lin ang="162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Sum of % Premium Amount</c:v>
          </c:tx>
          <c:spPr>
            <a:gradFill rotWithShape="1">
              <a:gsLst>
                <a:gs pos="0">
                  <a:schemeClr val="accent5">
                    <a:tint val="98000"/>
                    <a:satMod val="110000"/>
                    <a:lumMod val="104000"/>
                  </a:schemeClr>
                </a:gs>
                <a:gs pos="69000">
                  <a:schemeClr val="accent5">
                    <a:shade val="84000"/>
                    <a:satMod val="130000"/>
                    <a:lumMod val="92000"/>
                  </a:schemeClr>
                </a:gs>
                <a:gs pos="100000">
                  <a:schemeClr val="accent5">
                    <a:shade val="76000"/>
                    <a:satMod val="130000"/>
                    <a:lumMod val="8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1"/>
              <c:pt idx="0">
                <c:v>2022</c:v>
              </c:pt>
              <c:pt idx="1">
                <c:v>2016</c:v>
              </c:pt>
              <c:pt idx="2">
                <c:v>2015</c:v>
              </c:pt>
              <c:pt idx="3">
                <c:v>2019</c:v>
              </c:pt>
              <c:pt idx="4">
                <c:v>2021</c:v>
              </c:pt>
              <c:pt idx="5">
                <c:v>2018</c:v>
              </c:pt>
              <c:pt idx="6">
                <c:v>2017</c:v>
              </c:pt>
              <c:pt idx="7">
                <c:v>2020</c:v>
              </c:pt>
              <c:pt idx="8">
                <c:v>2023</c:v>
              </c:pt>
              <c:pt idx="9">
                <c:v>2024</c:v>
              </c:pt>
              <c:pt idx="10">
                <c:v>2014</c:v>
              </c:pt>
            </c:strLit>
          </c:cat>
          <c:val>
            <c:numLit>
              <c:formatCode>0.00%;\-0.00%;0.00%</c:formatCode>
              <c:ptCount val="11"/>
              <c:pt idx="0">
                <c:v>0.10690521611788333</c:v>
              </c:pt>
              <c:pt idx="1">
                <c:v>0.10647458764749365</c:v>
              </c:pt>
              <c:pt idx="2">
                <c:v>0.10053197596111045</c:v>
              </c:pt>
              <c:pt idx="3">
                <c:v>0.10024005283853951</c:v>
              </c:pt>
              <c:pt idx="4">
                <c:v>9.9417484298257225E-2</c:v>
              </c:pt>
              <c:pt idx="5">
                <c:v>9.9233308580157331E-2</c:v>
              </c:pt>
              <c:pt idx="6">
                <c:v>9.9130299810964106E-2</c:v>
              </c:pt>
              <c:pt idx="7">
                <c:v>9.8275298324937171E-2</c:v>
              </c:pt>
              <c:pt idx="8">
                <c:v>9.6871709993848351E-2</c:v>
              </c:pt>
              <c:pt idx="9">
                <c:v>9.0378150698257817E-2</c:v>
              </c:pt>
              <c:pt idx="10">
                <c:v>2.5419157285512029E-3</c:v>
              </c:pt>
            </c:numLit>
          </c:val>
          <c:extLst>
            <c:ext xmlns:c16="http://schemas.microsoft.com/office/drawing/2014/chart" uri="{C3380CC4-5D6E-409C-BE32-E72D297353CC}">
              <c16:uniqueId val="{00000000-A2B2-4FCA-ABBF-B2680D739E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1368256"/>
        <c:axId val="457935344"/>
      </c:barChart>
      <c:lineChart>
        <c:grouping val="standard"/>
        <c:varyColors val="0"/>
        <c:ser>
          <c:idx val="1"/>
          <c:order val="1"/>
          <c:tx>
            <c:v>Sum of Growth</c:v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Lit>
              <c:ptCount val="11"/>
              <c:pt idx="0">
                <c:v>2022</c:v>
              </c:pt>
              <c:pt idx="1">
                <c:v>2016</c:v>
              </c:pt>
              <c:pt idx="2">
                <c:v>2015</c:v>
              </c:pt>
              <c:pt idx="3">
                <c:v>2019</c:v>
              </c:pt>
              <c:pt idx="4">
                <c:v>2021</c:v>
              </c:pt>
              <c:pt idx="5">
                <c:v>2018</c:v>
              </c:pt>
              <c:pt idx="6">
                <c:v>2017</c:v>
              </c:pt>
              <c:pt idx="7">
                <c:v>2020</c:v>
              </c:pt>
              <c:pt idx="8">
                <c:v>2023</c:v>
              </c:pt>
              <c:pt idx="9">
                <c:v>2024</c:v>
              </c:pt>
              <c:pt idx="10">
                <c:v>2014</c:v>
              </c:pt>
            </c:strLit>
          </c:cat>
          <c:val>
            <c:numLit>
              <c:formatCode>0.00%;\-0.00%;0.00%</c:formatCode>
              <c:ptCount val="11"/>
              <c:pt idx="0">
                <c:v>0.10690521611788333</c:v>
              </c:pt>
              <c:pt idx="1">
                <c:v>0.21337980376537696</c:v>
              </c:pt>
              <c:pt idx="2">
                <c:v>0.31391177972648743</c:v>
              </c:pt>
              <c:pt idx="3">
                <c:v>0.41415183256502697</c:v>
              </c:pt>
              <c:pt idx="4">
                <c:v>0.51356931686328422</c:v>
              </c:pt>
              <c:pt idx="5">
                <c:v>0.61280262544344155</c:v>
              </c:pt>
              <c:pt idx="6">
                <c:v>0.71193292525440566</c:v>
              </c:pt>
              <c:pt idx="7">
                <c:v>0.81020822357934286</c:v>
              </c:pt>
              <c:pt idx="8">
                <c:v>0.90707993357319117</c:v>
              </c:pt>
              <c:pt idx="9">
                <c:v>0.997458084271449</c:v>
              </c:pt>
              <c:pt idx="10">
                <c:v>1.0000000000000002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2B2-4FCA-ABBF-B2680D739E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1310256"/>
        <c:axId val="159519120"/>
      </c:lineChart>
      <c:catAx>
        <c:axId val="209136825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4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7935344"/>
        <c:crosses val="autoZero"/>
        <c:auto val="1"/>
        <c:lblAlgn val="ctr"/>
        <c:lblOffset val="100"/>
        <c:noMultiLvlLbl val="0"/>
        <c:extLst/>
      </c:catAx>
      <c:valAx>
        <c:axId val="457935344"/>
        <c:scaling>
          <c:orientation val="minMax"/>
        </c:scaling>
        <c:delete val="0"/>
        <c:axPos val="l"/>
        <c:numFmt formatCode="0.00%;\-0.00%;0.00%" sourceLinked="0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1368256"/>
        <c:crosses val="autoZero"/>
        <c:crossBetween val="between"/>
        <c:extLst/>
      </c:valAx>
      <c:valAx>
        <c:axId val="159519120"/>
        <c:scaling>
          <c:orientation val="minMax"/>
        </c:scaling>
        <c:delete val="0"/>
        <c:axPos val="r"/>
        <c:numFmt formatCode="0.00%;\-0.00%;0.00%" sourceLinked="0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1310256"/>
        <c:crosses val="max"/>
        <c:crossBetween val="between"/>
        <c:extLst/>
      </c:valAx>
      <c:catAx>
        <c:axId val="209131025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159519120"/>
        <c:crosses val="autoZero"/>
        <c:auto val="1"/>
        <c:lblAlgn val="ctr"/>
        <c:lblOffset val="100"/>
        <c:noMultiLvlLbl val="0"/>
        <c:extLst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2">
          <a:lumMod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25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5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75000"/>
            <a:lumOff val="2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7693A-2C4F-4F96-A833-00C4C6E4043E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FBA09-B5E1-4A0A-A366-E220C575B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732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200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999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58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260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630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57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42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24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789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099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36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964732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27.png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5" Type="http://schemas.microsoft.com/office/2007/relationships/hdphoto" Target="../media/hdphoto5.wdp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3DB83-0955-6083-3A40-22263DB20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510" y="3428998"/>
            <a:ext cx="6694364" cy="2268559"/>
          </a:xfrm>
        </p:spPr>
        <p:txBody>
          <a:bodyPr>
            <a:normAutofit fontScale="90000"/>
          </a:bodyPr>
          <a:lstStyle/>
          <a:p>
            <a:r>
              <a:rPr lang="en-IN" dirty="0"/>
              <a:t>Insurance Branch Analytics Dashboard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46F76-1420-7ED0-9836-D17504E6E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510" y="2268786"/>
            <a:ext cx="6694364" cy="1160213"/>
          </a:xfrm>
        </p:spPr>
        <p:txBody>
          <a:bodyPr/>
          <a:lstStyle/>
          <a:p>
            <a:r>
              <a:rPr lang="en-US" dirty="0">
                <a:solidFill>
                  <a:srgbClr val="EBECE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Reviewing Business Performance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613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016DF-EC37-E02B-822B-0FF7BEE2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rgbClr val="FFFFFF"/>
                </a:solidFill>
                <a:latin typeface="Alexandria Medium" pitchFamily="34" charset="0"/>
                <a:cs typeface="Alexandria Medium" pitchFamily="34" charset="-120"/>
              </a:rPr>
              <a:t>Insurance Analytics Tools</a:t>
            </a:r>
            <a:br>
              <a:rPr lang="en-US" sz="36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96C4E-C49C-0D30-C530-16D4E10E0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EBECEF"/>
                </a:solidFill>
                <a:latin typeface="Bahnschrift" panose="020B0502040204020203" pitchFamily="34" charset="0"/>
                <a:ea typeface="Verdana" panose="020B0604030504040204" pitchFamily="34" charset="0"/>
                <a:cs typeface="Alexandria" pitchFamily="34" charset="-120"/>
              </a:rPr>
              <a:t>Excel</a:t>
            </a:r>
          </a:p>
          <a:p>
            <a:pPr marL="0" indent="0">
              <a:lnSpc>
                <a:spcPts val="2850"/>
              </a:lnSpc>
              <a:buNone/>
            </a:pPr>
            <a:endParaRPr lang="en-US" dirty="0">
              <a:solidFill>
                <a:srgbClr val="EBECEF"/>
              </a:solidFill>
              <a:latin typeface="Bahnschrift" panose="020B0502040204020203" pitchFamily="34" charset="0"/>
              <a:ea typeface="Verdana" panose="020B0604030504040204" pitchFamily="34" charset="0"/>
              <a:cs typeface="Alexandria" pitchFamily="34" charset="-12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EBECEF"/>
                </a:solidFill>
                <a:latin typeface="Bahnschrift" panose="020B0502040204020203" pitchFamily="34" charset="0"/>
                <a:ea typeface="Verdana" panose="020B0604030504040204" pitchFamily="34" charset="0"/>
                <a:cs typeface="Alexandria" pitchFamily="34" charset="-120"/>
              </a:rPr>
              <a:t>MySQL</a:t>
            </a:r>
          </a:p>
          <a:p>
            <a:pPr marL="0" indent="0">
              <a:lnSpc>
                <a:spcPts val="2850"/>
              </a:lnSpc>
              <a:buNone/>
            </a:pPr>
            <a:endParaRPr lang="en-US" dirty="0">
              <a:solidFill>
                <a:srgbClr val="EBECEF"/>
              </a:solidFill>
              <a:latin typeface="Bahnschrift" panose="020B0502040204020203" pitchFamily="34" charset="0"/>
              <a:ea typeface="Verdana" panose="020B0604030504040204" pitchFamily="34" charset="0"/>
              <a:cs typeface="Alexandria" pitchFamily="34" charset="-12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dirty="0" err="1">
                <a:solidFill>
                  <a:srgbClr val="EBECEF"/>
                </a:solidFill>
                <a:latin typeface="Bahnschrift" panose="020B0502040204020203" pitchFamily="34" charset="0"/>
                <a:ea typeface="Verdana" panose="020B0604030504040204" pitchFamily="34" charset="0"/>
                <a:cs typeface="Alexandria" pitchFamily="34" charset="-120"/>
              </a:rPr>
              <a:t>PowerBI</a:t>
            </a:r>
            <a:endParaRPr lang="en-US" dirty="0">
              <a:solidFill>
                <a:srgbClr val="EBECEF"/>
              </a:solidFill>
              <a:latin typeface="Bahnschrift" panose="020B0502040204020203" pitchFamily="34" charset="0"/>
              <a:ea typeface="Verdana" panose="020B0604030504040204" pitchFamily="34" charset="0"/>
              <a:cs typeface="Alexandria" pitchFamily="34" charset="-120"/>
            </a:endParaRPr>
          </a:p>
          <a:p>
            <a:pPr marL="0" indent="0">
              <a:lnSpc>
                <a:spcPts val="2850"/>
              </a:lnSpc>
              <a:buNone/>
            </a:pPr>
            <a:endParaRPr lang="en-US" dirty="0">
              <a:solidFill>
                <a:srgbClr val="EBECEF"/>
              </a:solidFill>
              <a:latin typeface="Bahnschrift" panose="020B0502040204020203" pitchFamily="34" charset="0"/>
              <a:ea typeface="Verdana" panose="020B0604030504040204" pitchFamily="34" charset="0"/>
              <a:cs typeface="Alexandria" pitchFamily="34" charset="-12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EBECEF"/>
                </a:solidFill>
                <a:latin typeface="Bahnschrift" panose="020B0502040204020203" pitchFamily="34" charset="0"/>
                <a:ea typeface="Verdana" panose="020B0604030504040204" pitchFamily="34" charset="0"/>
                <a:cs typeface="Alexandria" pitchFamily="34" charset="-120"/>
              </a:rPr>
              <a:t>Tableau</a:t>
            </a:r>
          </a:p>
          <a:p>
            <a:endParaRPr lang="en-IN" dirty="0">
              <a:latin typeface="Bahnschrift" panose="020B0502040204020203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3BB818-03BD-83A2-056F-3A6191341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18" y="2000001"/>
            <a:ext cx="582933" cy="5829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95C99E-5309-CC57-5A38-92D6DD161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718" y="5046358"/>
            <a:ext cx="583200" cy="583200"/>
          </a:xfrm>
          <a:prstGeom prst="rect">
            <a:avLst/>
          </a:prstGeom>
        </p:spPr>
      </p:pic>
      <p:pic>
        <p:nvPicPr>
          <p:cNvPr id="6" name="Picture 5" descr="Power BI Icon SVG Vector &amp; PNG Free Download | UXWing">
            <a:extLst>
              <a:ext uri="{FF2B5EF4-FFF2-40B4-BE49-F238E27FC236}">
                <a16:creationId xmlns:a16="http://schemas.microsoft.com/office/drawing/2014/main" id="{62A4F7AE-8ED6-3FB0-E406-54CFD887D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718" y="3960866"/>
            <a:ext cx="583201" cy="583201"/>
          </a:xfrm>
          <a:prstGeom prst="rect">
            <a:avLst/>
          </a:prstGeom>
        </p:spPr>
      </p:pic>
      <p:pic>
        <p:nvPicPr>
          <p:cNvPr id="8" name="Picture 7" descr="MySQL transparent background PNG clipart | HiClipart">
            <a:extLst>
              <a:ext uri="{FF2B5EF4-FFF2-40B4-BE49-F238E27FC236}">
                <a16:creationId xmlns:a16="http://schemas.microsoft.com/office/drawing/2014/main" id="{4CF675C1-30FC-E19D-93C0-018D850315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250" b="99125" l="750" r="98500">
                        <a14:foregroundMark x1="37375" y1="9250" x2="37375" y2="9250"/>
                        <a14:foregroundMark x1="24375" y1="4250" x2="24375" y2="4250"/>
                        <a14:foregroundMark x1="33875" y1="17500" x2="33875" y2="17500"/>
                        <a14:foregroundMark x1="91125" y1="63000" x2="91125" y2="63000"/>
                        <a14:foregroundMark x1="49250" y1="65750" x2="49250" y2="65750"/>
                        <a14:foregroundMark x1="49625" y1="66250" x2="49625" y2="66250"/>
                        <a14:foregroundMark x1="94875" y1="66625" x2="94875" y2="66625"/>
                        <a14:foregroundMark x1="95375" y1="81500" x2="95375" y2="81500"/>
                        <a14:foregroundMark x1="96000" y1="66875" x2="96000" y2="66875"/>
                        <a14:foregroundMark x1="6750" y1="85625" x2="6750" y2="85625"/>
                        <a14:foregroundMark x1="750" y1="82375" x2="750" y2="82375"/>
                        <a14:foregroundMark x1="10500" y1="94125" x2="10500" y2="94125"/>
                        <a14:foregroundMark x1="27625" y1="90375" x2="27625" y2="90375"/>
                        <a14:foregroundMark x1="37125" y1="99125" x2="37125" y2="99125"/>
                        <a14:foregroundMark x1="46875" y1="94125" x2="46875" y2="94125"/>
                        <a14:foregroundMark x1="46375" y1="83625" x2="46375" y2="83625"/>
                        <a14:foregroundMark x1="50625" y1="88250" x2="50625" y2="88250"/>
                        <a14:foregroundMark x1="62750" y1="85500" x2="62750" y2="85500"/>
                        <a14:foregroundMark x1="80125" y1="85500" x2="80125" y2="85500"/>
                        <a14:foregroundMark x1="98500" y1="83625" x2="98500" y2="83625"/>
                        <a14:backgroundMark x1="96125" y1="93000" x2="96125" y2="93000"/>
                        <a14:backgroundMark x1="96250" y1="92375" x2="96250" y2="92375"/>
                        <a14:backgroundMark x1="97375" y1="92625" x2="97375" y2="92625"/>
                        <a14:backgroundMark x1="98125" y1="91375" x2="98125" y2="91375"/>
                        <a14:backgroundMark x1="97125" y1="91125" x2="97125" y2="91125"/>
                        <a14:backgroundMark x1="97500" y1="91000" x2="97500" y2="91000"/>
                        <a14:backgroundMark x1="96125" y1="91625" x2="96125" y2="91625"/>
                        <a14:backgroundMark x1="96125" y1="91500" x2="96125" y2="91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71450" y="2915920"/>
            <a:ext cx="583201" cy="58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29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DE085A8B-2C97-37DC-519F-BB4295811422}"/>
              </a:ext>
            </a:extLst>
          </p:cNvPr>
          <p:cNvGrpSpPr/>
          <p:nvPr/>
        </p:nvGrpSpPr>
        <p:grpSpPr>
          <a:xfrm>
            <a:off x="1878542" y="2530555"/>
            <a:ext cx="3735677" cy="441291"/>
            <a:chOff x="1343024" y="2539156"/>
            <a:chExt cx="4476439" cy="461121"/>
          </a:xfrm>
          <a:noFill/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15" name="TextBox 14"/>
            <p:cNvSpPr txBox="1"/>
            <p:nvPr/>
          </p:nvSpPr>
          <p:spPr>
            <a:xfrm>
              <a:off x="1343025" y="2539156"/>
              <a:ext cx="3960496" cy="254605"/>
            </a:xfrm>
            <a:prstGeom prst="rect">
              <a:avLst/>
            </a:prstGeom>
            <a:grp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52"/>
                </a:lnSpc>
              </a:pPr>
              <a:r>
                <a:rPr sz="1600" b="1" i="0" u="none" dirty="0">
                  <a:ln w="0"/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Plus Jakarta Sans SemiBold"/>
                </a:rPr>
                <a:t>Project Context &amp; Objectives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343024" y="2812405"/>
              <a:ext cx="4476439" cy="187872"/>
            </a:xfrm>
            <a:prstGeom prst="rect">
              <a:avLst/>
            </a:prstGeom>
            <a:grp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sz="1050" i="0" u="none" dirty="0">
                  <a:ln w="0"/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Inter"/>
                </a:rPr>
                <a:t>Overview of insurance branch goals and performance focus.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D3C0D86-4EF5-C30B-FFBD-35A56B19B523}"/>
              </a:ext>
            </a:extLst>
          </p:cNvPr>
          <p:cNvGrpSpPr/>
          <p:nvPr/>
        </p:nvGrpSpPr>
        <p:grpSpPr>
          <a:xfrm>
            <a:off x="6514768" y="2530554"/>
            <a:ext cx="3651810" cy="441292"/>
            <a:chOff x="7034211" y="2539156"/>
            <a:chExt cx="4375171" cy="461122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17" name="TextBox 16"/>
            <p:cNvSpPr txBox="1"/>
            <p:nvPr/>
          </p:nvSpPr>
          <p:spPr>
            <a:xfrm>
              <a:off x="7034212" y="2539156"/>
              <a:ext cx="3820477" cy="2546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52"/>
                </a:lnSpc>
              </a:pPr>
              <a:r>
                <a:rPr sz="1600" b="1" i="0" u="none" dirty="0">
                  <a:ln w="0"/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Plus Jakarta Sans SemiBold"/>
                </a:rPr>
                <a:t>Data Architecture &amp; Schema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034211" y="2812406"/>
              <a:ext cx="4375171" cy="1878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IN" sz="1050" i="0" u="none" dirty="0">
                  <a:ln w="0"/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Inter"/>
                </a:rPr>
                <a:t>Data </a:t>
              </a:r>
              <a:r>
                <a:rPr sz="1050" i="0" u="none" dirty="0">
                  <a:ln w="0"/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Inter"/>
                </a:rPr>
                <a:t>Source  database structuring.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4E72B41-5DA7-41E2-E8CF-C5D1925EF5AB}"/>
              </a:ext>
            </a:extLst>
          </p:cNvPr>
          <p:cNvGrpSpPr/>
          <p:nvPr/>
        </p:nvGrpSpPr>
        <p:grpSpPr>
          <a:xfrm>
            <a:off x="1878542" y="3589585"/>
            <a:ext cx="3992259" cy="453041"/>
            <a:chOff x="1343024" y="3589585"/>
            <a:chExt cx="4783900" cy="453041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19" name="TextBox 18"/>
            <p:cNvSpPr txBox="1"/>
            <p:nvPr/>
          </p:nvSpPr>
          <p:spPr>
            <a:xfrm>
              <a:off x="1343025" y="3589585"/>
              <a:ext cx="4140517" cy="2436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52"/>
                </a:lnSpc>
              </a:pPr>
              <a:r>
                <a:rPr sz="1600" b="1" i="0" u="none" dirty="0">
                  <a:ln w="0"/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Plus Jakarta Sans SemiBold"/>
                </a:rPr>
                <a:t>Core KPIs &amp; Metrics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343024" y="3862833"/>
              <a:ext cx="4783900" cy="1797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sz="1050" i="0" u="none" dirty="0">
                  <a:ln w="0"/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Inter"/>
                </a:rPr>
                <a:t>Tracking new business growth, renewals, and conversion rates.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1F47426-C98E-D8AC-AC16-62A3163349E9}"/>
              </a:ext>
            </a:extLst>
          </p:cNvPr>
          <p:cNvGrpSpPr/>
          <p:nvPr/>
        </p:nvGrpSpPr>
        <p:grpSpPr>
          <a:xfrm>
            <a:off x="6514769" y="3580982"/>
            <a:ext cx="3597992" cy="441290"/>
            <a:chOff x="7034212" y="3589585"/>
            <a:chExt cx="4310693" cy="461120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21" name="TextBox 20"/>
            <p:cNvSpPr txBox="1"/>
            <p:nvPr/>
          </p:nvSpPr>
          <p:spPr>
            <a:xfrm>
              <a:off x="7034212" y="3589585"/>
              <a:ext cx="3700461" cy="2546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52"/>
                </a:lnSpc>
              </a:pPr>
              <a:r>
                <a:rPr sz="1600" b="1" i="0" u="none" dirty="0">
                  <a:ln w="0"/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Plus Jakarta Sans SemiBold"/>
                </a:rPr>
                <a:t>Dashboard Walkthrough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034212" y="3862833"/>
              <a:ext cx="4310693" cy="1878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sz="1050" i="0" u="none" dirty="0">
                  <a:ln w="0"/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Inter"/>
                </a:rPr>
                <a:t>Interactive demonstration of branch analytics and filters.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40EF065-3A0D-1904-6EFF-0572F2FF679C}"/>
              </a:ext>
            </a:extLst>
          </p:cNvPr>
          <p:cNvGrpSpPr/>
          <p:nvPr/>
        </p:nvGrpSpPr>
        <p:grpSpPr>
          <a:xfrm>
            <a:off x="1878543" y="4640014"/>
            <a:ext cx="3686314" cy="453041"/>
            <a:chOff x="1343025" y="4640014"/>
            <a:chExt cx="4417288" cy="453041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23" name="TextBox 22"/>
            <p:cNvSpPr txBox="1"/>
            <p:nvPr/>
          </p:nvSpPr>
          <p:spPr>
            <a:xfrm>
              <a:off x="1343025" y="4640014"/>
              <a:ext cx="3270408" cy="2436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52"/>
                </a:lnSpc>
              </a:pPr>
              <a:r>
                <a:rPr sz="1600" b="1" i="0" u="none" dirty="0">
                  <a:ln w="0"/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Plus Jakarta Sans SemiBold"/>
                </a:rPr>
                <a:t>Key Insights &amp; Takeaways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343025" y="4913262"/>
              <a:ext cx="4417288" cy="1797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sz="1050" i="0" u="none" dirty="0">
                  <a:ln w="0"/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Inter"/>
                </a:rPr>
                <a:t>Critical findings derived from performance trends.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F22EB2A-745A-A06C-7D10-36443298D081}"/>
              </a:ext>
            </a:extLst>
          </p:cNvPr>
          <p:cNvGrpSpPr/>
          <p:nvPr/>
        </p:nvGrpSpPr>
        <p:grpSpPr>
          <a:xfrm>
            <a:off x="6514655" y="4631745"/>
            <a:ext cx="3322682" cy="441751"/>
            <a:chOff x="7034212" y="4640014"/>
            <a:chExt cx="3981550" cy="460789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25" name="TextBox 24"/>
            <p:cNvSpPr txBox="1"/>
            <p:nvPr/>
          </p:nvSpPr>
          <p:spPr>
            <a:xfrm>
              <a:off x="7034212" y="4640014"/>
              <a:ext cx="3470433" cy="25415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52"/>
                </a:lnSpc>
              </a:pPr>
              <a:r>
                <a:rPr sz="1600" b="1" i="0" u="none" dirty="0">
                  <a:ln w="0"/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Plus Jakarta Sans SemiBold"/>
                </a:rPr>
                <a:t>Strategic Recommendations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034212" y="4913262"/>
              <a:ext cx="3981550" cy="1875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sz="1050" i="0" u="none" dirty="0">
                  <a:ln w="0"/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Inter"/>
                </a:rPr>
                <a:t>Actionable next steps to optimize branch operations.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171575" y="574573"/>
            <a:ext cx="979117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chemeClr val="accent5"/>
                </a:solidFill>
                <a:latin typeface="Plus Jakarta Sans"/>
              </a:rPr>
              <a:t>Presentation Agenda</a:t>
            </a:r>
          </a:p>
        </p:txBody>
      </p:sp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81952BA3-E02E-C304-0A61-9CF7E00C2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204" y="2574615"/>
            <a:ext cx="361950" cy="361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B25CDA31-499F-98AA-8965-C531C8FB1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869" y="2548988"/>
            <a:ext cx="361950" cy="361950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2784586C-A3BC-292B-96CB-2F8A8EA9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3619081"/>
            <a:ext cx="361950" cy="361950"/>
          </a:xfrm>
          <a:prstGeom prst="rect">
            <a:avLst/>
          </a:prstGeom>
        </p:spPr>
      </p:pic>
      <p:pic>
        <p:nvPicPr>
          <p:cNvPr id="41" name="Picture 40" descr="image.png">
            <a:extLst>
              <a:ext uri="{FF2B5EF4-FFF2-40B4-BE49-F238E27FC236}">
                <a16:creationId xmlns:a16="http://schemas.microsoft.com/office/drawing/2014/main" id="{E580E9DA-EC9C-73C0-4071-1813707C5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869" y="3599417"/>
            <a:ext cx="361950" cy="361950"/>
          </a:xfrm>
          <a:prstGeom prst="rect">
            <a:avLst/>
          </a:prstGeom>
        </p:spPr>
      </p:pic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BA9B9F84-1EE0-5948-27C0-CF765C9F5B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0" y="4640014"/>
            <a:ext cx="361950" cy="361950"/>
          </a:xfrm>
          <a:prstGeom prst="rect">
            <a:avLst/>
          </a:prstGeom>
        </p:spPr>
      </p:pic>
      <p:pic>
        <p:nvPicPr>
          <p:cNvPr id="45" name="Picture 44" descr="image.png">
            <a:extLst>
              <a:ext uri="{FF2B5EF4-FFF2-40B4-BE49-F238E27FC236}">
                <a16:creationId xmlns:a16="http://schemas.microsoft.com/office/drawing/2014/main" id="{601C51E7-61F2-2855-D489-C26D3A957B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9869" y="4649846"/>
            <a:ext cx="361950" cy="36195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2FCEC8-7F79-89EE-F0BE-9ADC5EEE1583}"/>
              </a:ext>
            </a:extLst>
          </p:cNvPr>
          <p:cNvSpPr txBox="1"/>
          <p:nvPr/>
        </p:nvSpPr>
        <p:spPr>
          <a:xfrm>
            <a:off x="1327354" y="1277797"/>
            <a:ext cx="96454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Is to establish Insurance Branch Analytics Dashboard to monitor, evaluate, and enhance branch operational performance.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168E0-D8B6-F12B-7A8B-B6991BEF0B6A}"/>
              </a:ext>
            </a:extLst>
          </p:cNvPr>
          <p:cNvSpPr txBox="1"/>
          <p:nvPr/>
        </p:nvSpPr>
        <p:spPr>
          <a:xfrm>
            <a:off x="1415844" y="3646957"/>
            <a:ext cx="9488129" cy="467051"/>
          </a:xfrm>
          <a:prstGeom prst="rect">
            <a:avLst/>
          </a:prstGeom>
          <a:grp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852"/>
              </a:lnSpc>
              <a:defRPr sz="1600" b="1" i="0" u="none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defRPr>
            </a:lvl1pPr>
          </a:lstStyle>
          <a:p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Drive Data-Driven Decision Making</a:t>
            </a:r>
          </a:p>
          <a:p>
            <a:r>
              <a:rPr lang="en-IN" sz="1200" b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Translate complex branch datasets into clear, actionable insights to optimize resource allocation and daily operations.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35555-BD2E-D632-5087-EDCAC10E7404}"/>
              </a:ext>
            </a:extLst>
          </p:cNvPr>
          <p:cNvSpPr txBox="1"/>
          <p:nvPr/>
        </p:nvSpPr>
        <p:spPr>
          <a:xfrm>
            <a:off x="1327353" y="246912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us Jakarta Sans SemiBold"/>
              </a:rPr>
              <a:t>Core Objectives</a:t>
            </a:r>
            <a:endParaRPr lang="en-IN" sz="2000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us Jakarta Sans Semi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15017-16D5-AFE9-338D-67AEA10E5B45}"/>
              </a:ext>
            </a:extLst>
          </p:cNvPr>
          <p:cNvSpPr txBox="1"/>
          <p:nvPr/>
        </p:nvSpPr>
        <p:spPr>
          <a:xfrm>
            <a:off x="1415844" y="3000986"/>
            <a:ext cx="6096000" cy="243656"/>
          </a:xfrm>
          <a:prstGeom prst="rect">
            <a:avLst/>
          </a:prstGeom>
          <a:grp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852"/>
              </a:lnSpc>
              <a:defRPr sz="1600" b="1" i="0" u="none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defRPr>
            </a:lvl1pPr>
          </a:lstStyle>
          <a:p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Track Key Performance Indicators (KPIs)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8156ED-810B-DD36-9FC1-576565C0D380}"/>
              </a:ext>
            </a:extLst>
          </p:cNvPr>
          <p:cNvSpPr txBox="1"/>
          <p:nvPr/>
        </p:nvSpPr>
        <p:spPr>
          <a:xfrm>
            <a:off x="1327354" y="3271681"/>
            <a:ext cx="91341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Plus Jakarta Sans SemiBold"/>
              </a:rPr>
              <a:t>Measure essential operational metrics focusing specifically on new business acquisition and policy renewal success rates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241E3-6A18-8E37-B775-7D6E006A10E1}"/>
              </a:ext>
            </a:extLst>
          </p:cNvPr>
          <p:cNvSpPr txBox="1"/>
          <p:nvPr/>
        </p:nvSpPr>
        <p:spPr>
          <a:xfrm>
            <a:off x="1327353" y="4212285"/>
            <a:ext cx="82197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us Jakarta Sans SemiBold"/>
              </a:rPr>
              <a:t>Align with Strategic Goals</a:t>
            </a:r>
          </a:p>
          <a:p>
            <a:r>
              <a:rPr lang="en-IN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Plus Jakarta Sans SemiBold"/>
              </a:rPr>
              <a:t>Empower branch leadership to identify growth opportunities, minimize churn, and achieve overarching organizational targets.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4E0BA5-94CC-DD0A-D0A5-417185017E2E}"/>
              </a:ext>
            </a:extLst>
          </p:cNvPr>
          <p:cNvSpPr txBox="1"/>
          <p:nvPr/>
        </p:nvSpPr>
        <p:spPr>
          <a:xfrm>
            <a:off x="1415844" y="794351"/>
            <a:ext cx="6607279" cy="3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sz="4000" b="1" i="0" u="none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rPr>
              <a:t>Project </a:t>
            </a:r>
            <a:r>
              <a:rPr lang="en-IN" sz="4000" b="1" i="0" u="none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rPr>
              <a:t>Context</a:t>
            </a:r>
            <a:r>
              <a:rPr sz="4000" b="1" i="0" u="none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rPr>
              <a:t> &amp; Objectives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CDBD7AE-1683-544D-6AA7-E2497EC5E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88539" y="1883919"/>
            <a:ext cx="2279228" cy="227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94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873ED-4391-AF15-5243-DBFFFFCB8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369466-630E-2283-534B-5632F7017E8F}"/>
              </a:ext>
            </a:extLst>
          </p:cNvPr>
          <p:cNvSpPr txBox="1"/>
          <p:nvPr/>
        </p:nvSpPr>
        <p:spPr>
          <a:xfrm>
            <a:off x="1322269" y="1151843"/>
            <a:ext cx="96454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50800" dist="38100" dir="8100000" algn="tr" rotWithShape="0">
                    <a:schemeClr val="accent4">
                      <a:alpha val="40000"/>
                    </a:schemeClr>
                  </a:outerShdw>
                </a:effectLst>
                <a:latin typeface="Plus Jakarta Sans SemiBold"/>
              </a:rPr>
              <a:t>Core Policy, Claim, and Customer Information Schema</a:t>
            </a:r>
            <a:endParaRPr lang="en-IN"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50800" dist="38100" dir="8100000" algn="tr" rotWithShape="0">
                  <a:schemeClr val="accent4">
                    <a:alpha val="40000"/>
                  </a:schemeClr>
                </a:outerShdw>
              </a:effectLst>
              <a:latin typeface="Plus Jakarta Sans Semi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6FCD02-38AF-53E4-407B-4E414C975AEA}"/>
              </a:ext>
            </a:extLst>
          </p:cNvPr>
          <p:cNvSpPr txBox="1"/>
          <p:nvPr/>
        </p:nvSpPr>
        <p:spPr>
          <a:xfrm>
            <a:off x="1415844" y="794351"/>
            <a:ext cx="6607279" cy="3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52"/>
              </a:lnSpc>
            </a:pPr>
            <a:r>
              <a:rPr lang="en-IN" sz="4000" b="1" dirty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rPr>
              <a:t>Data Architecture &amp; Schema</a:t>
            </a:r>
          </a:p>
        </p:txBody>
      </p:sp>
      <p:pic>
        <p:nvPicPr>
          <p:cNvPr id="5" name="Picture 4" descr="Database - Free security icons">
            <a:extLst>
              <a:ext uri="{FF2B5EF4-FFF2-40B4-BE49-F238E27FC236}">
                <a16:creationId xmlns:a16="http://schemas.microsoft.com/office/drawing/2014/main" id="{6E666F4E-2290-CC68-2249-339AD5EDC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Diffused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6615" y="2111637"/>
            <a:ext cx="1681655" cy="19321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0EF5CC-8F3F-5F51-CEB7-0F9A7EC9BD89}"/>
              </a:ext>
            </a:extLst>
          </p:cNvPr>
          <p:cNvSpPr txBox="1"/>
          <p:nvPr/>
        </p:nvSpPr>
        <p:spPr>
          <a:xfrm>
            <a:off x="1322269" y="2150965"/>
            <a:ext cx="880970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/>
            <a:r>
              <a:rPr lang="en-IN" b="1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Plus Jakarta Sans SemiBold"/>
              </a:rPr>
              <a:t>Customer Master Data</a:t>
            </a:r>
            <a:endParaRPr lang="en-IN" b="1" dirty="0">
              <a:solidFill>
                <a:schemeClr val="accent5">
                  <a:lumMod val="40000"/>
                  <a:lumOff val="60000"/>
                </a:schemeClr>
              </a:solidFill>
              <a:latin typeface="Plus Jakarta Sans SemiBold"/>
            </a:endParaRPr>
          </a:p>
          <a:p>
            <a:pPr marL="0" marR="0" rtl="0"/>
            <a:r>
              <a:rPr lang="en-IN" sz="14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Plus Jakarta Sans SemiBold"/>
              </a:rPr>
              <a:t>Centralized repository containing </a:t>
            </a:r>
            <a:r>
              <a:rPr lang="en-IN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Plus Jakarta Sans SemiBold"/>
              </a:rPr>
              <a:t>customer</a:t>
            </a:r>
            <a:r>
              <a:rPr lang="en-IN" sz="14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Plus Jakarta Sans SemiBold"/>
              </a:rPr>
              <a:t> demographic details, contact information, occupation etc</a:t>
            </a:r>
          </a:p>
          <a:p>
            <a:pPr marL="0" marR="0" rtl="0"/>
            <a:endParaRPr lang="en-IN" sz="1200" dirty="0">
              <a:solidFill>
                <a:schemeClr val="accent5">
                  <a:lumMod val="40000"/>
                  <a:lumOff val="60000"/>
                </a:schemeClr>
              </a:solidFill>
              <a:effectLst/>
              <a:latin typeface="Plus Jakarta Sans SemiBold"/>
            </a:endParaRPr>
          </a:p>
          <a:p>
            <a:pPr marL="0" marR="0" rtl="0"/>
            <a:r>
              <a:rPr lang="en-IN" b="1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Plus Jakarta Sans SemiBold"/>
              </a:rPr>
              <a:t>Policy Administration Details</a:t>
            </a:r>
            <a:endParaRPr lang="en-IN" b="1" dirty="0">
              <a:solidFill>
                <a:schemeClr val="accent5">
                  <a:lumMod val="40000"/>
                  <a:lumOff val="60000"/>
                </a:schemeClr>
              </a:solidFill>
              <a:latin typeface="Plus Jakarta Sans SemiBold"/>
            </a:endParaRPr>
          </a:p>
          <a:p>
            <a:pPr marL="0" marR="0" rtl="0"/>
            <a:r>
              <a:rPr lang="en-IN" sz="14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Plus Jakarta Sans SemiBold"/>
              </a:rPr>
              <a:t>Comprehensive records of active policies, including policy numbers, coverage limits, effective dates, </a:t>
            </a:r>
          </a:p>
          <a:p>
            <a:pPr marL="0" marR="0" rtl="0"/>
            <a:r>
              <a:rPr lang="en-IN" sz="14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Plus Jakarta Sans SemiBold"/>
              </a:rPr>
              <a:t>premium amounts, and renewal or lapse status.</a:t>
            </a:r>
          </a:p>
          <a:p>
            <a:pPr marL="0" marR="0" rtl="0"/>
            <a:endParaRPr lang="en-IN" b="1" dirty="0">
              <a:solidFill>
                <a:schemeClr val="accent5">
                  <a:lumMod val="40000"/>
                  <a:lumOff val="60000"/>
                </a:schemeClr>
              </a:solidFill>
              <a:effectLst/>
              <a:latin typeface="Plus Jakarta Sans SemiBold"/>
            </a:endParaRPr>
          </a:p>
          <a:p>
            <a:pPr marL="0" marR="0" rtl="0"/>
            <a:r>
              <a:rPr lang="en-IN" b="1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Plus Jakarta Sans SemiBold"/>
              </a:rPr>
              <a:t>Insurance Type &amp; Line of Business</a:t>
            </a: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Plus Jakarta Sans SemiBold"/>
              </a:rPr>
              <a:t> </a:t>
            </a:r>
          </a:p>
          <a:p>
            <a:pPr marL="0" marR="0" rtl="0"/>
            <a:r>
              <a:rPr lang="en-IN" sz="14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Plus Jakarta Sans SemiBold"/>
              </a:rPr>
              <a:t>Categorization of policies by product lines (Life, Health, Property or Auto).</a:t>
            </a:r>
          </a:p>
          <a:p>
            <a:pPr marL="0" marR="0" rtl="0"/>
            <a:endParaRPr lang="en-IN" dirty="0">
              <a:solidFill>
                <a:schemeClr val="accent5">
                  <a:lumMod val="40000"/>
                  <a:lumOff val="60000"/>
                </a:schemeClr>
              </a:solidFill>
              <a:effectLst/>
              <a:latin typeface="Plus Jakarta Sans SemiBold"/>
            </a:endParaRPr>
          </a:p>
          <a:p>
            <a:pPr marL="0" marR="0" rtl="0"/>
            <a:r>
              <a:rPr lang="en-IN" b="1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Plus Jakarta Sans SemiBold"/>
              </a:rPr>
              <a:t>Claims History &amp; Management</a:t>
            </a: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Plus Jakarta Sans SemiBold"/>
              </a:rPr>
              <a:t> </a:t>
            </a:r>
          </a:p>
          <a:p>
            <a:pPr marL="0" marR="0" rtl="0"/>
            <a:r>
              <a:rPr lang="en-IN" sz="14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Plus Jakarta Sans SemiBold"/>
              </a:rPr>
              <a:t>Tracks all reported claims, including claim amount,  settlement payouts, </a:t>
            </a:r>
          </a:p>
          <a:p>
            <a:pPr marL="0" marR="0" rtl="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accent5">
                  <a:lumMod val="40000"/>
                  <a:lumOff val="60000"/>
                </a:schemeClr>
              </a:solidFill>
              <a:latin typeface="Plus Jakarta Sans SemiBold"/>
            </a:endParaRPr>
          </a:p>
          <a:p>
            <a:pPr marL="0" marR="0" rtl="0"/>
            <a:r>
              <a:rPr lang="en-IN" b="1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Plus Jakarta Sans SemiBold"/>
              </a:rPr>
              <a:t>Billing &amp; Financial Transactions</a:t>
            </a:r>
            <a:endParaRPr lang="en-IN" b="1" dirty="0">
              <a:solidFill>
                <a:schemeClr val="accent5">
                  <a:lumMod val="40000"/>
                  <a:lumOff val="60000"/>
                </a:schemeClr>
              </a:solidFill>
              <a:latin typeface="Plus Jakarta Sans SemiBold"/>
            </a:endParaRPr>
          </a:p>
          <a:p>
            <a:pPr marL="0" marR="0" rtl="0"/>
            <a:r>
              <a:rPr lang="en-IN" sz="14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Plus Jakarta Sans SemiBold"/>
              </a:rPr>
              <a:t>Records payment amount, payment method, payment status, paid date etc</a:t>
            </a:r>
          </a:p>
        </p:txBody>
      </p:sp>
    </p:spTree>
    <p:extLst>
      <p:ext uri="{BB962C8B-B14F-4D97-AF65-F5344CB8AC3E}">
        <p14:creationId xmlns:p14="http://schemas.microsoft.com/office/powerpoint/2010/main" val="1912014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CB03-6479-8A79-8FAF-DBCE3B7D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19B06F-F7A8-FDDD-D100-A2783130F425}"/>
              </a:ext>
            </a:extLst>
          </p:cNvPr>
          <p:cNvSpPr txBox="1"/>
          <p:nvPr/>
        </p:nvSpPr>
        <p:spPr>
          <a:xfrm>
            <a:off x="1322269" y="1151843"/>
            <a:ext cx="96454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50800" dist="38100" dir="8100000" algn="tr" rotWithShape="0">
                    <a:schemeClr val="accent4">
                      <a:alpha val="40000"/>
                    </a:schemeClr>
                  </a:outerShdw>
                </a:effectLst>
                <a:latin typeface="Plus Jakarta Sans SemiBold"/>
              </a:rPr>
              <a:t>The Insurance Branch Analytics Dashboard delivers a comprehensive view of branch performance, with dedicated focus on new business acquisition and policy renewal metrics.</a:t>
            </a:r>
            <a:endParaRPr lang="en-IN" sz="2000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50800" dist="38100" dir="8100000" algn="tr" rotWithShape="0">
                  <a:schemeClr val="accent4">
                    <a:alpha val="40000"/>
                  </a:schemeClr>
                </a:outerShdw>
              </a:effectLst>
              <a:latin typeface="Plus Jakarta Sans Semi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5DD972-C0CD-5720-A08D-D3422AE83ACA}"/>
              </a:ext>
            </a:extLst>
          </p:cNvPr>
          <p:cNvSpPr txBox="1"/>
          <p:nvPr/>
        </p:nvSpPr>
        <p:spPr>
          <a:xfrm>
            <a:off x="1415844" y="794351"/>
            <a:ext cx="6607279" cy="3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52"/>
              </a:lnSpc>
            </a:pPr>
            <a:r>
              <a:rPr lang="en-IN" sz="4000" b="1" dirty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rPr>
              <a:t>Core KPI &amp; Metrics Overview</a:t>
            </a:r>
          </a:p>
        </p:txBody>
      </p:sp>
      <p:pic>
        <p:nvPicPr>
          <p:cNvPr id="4" name="Graphic 3" descr="Research with solid fill">
            <a:extLst>
              <a:ext uri="{FF2B5EF4-FFF2-40B4-BE49-F238E27FC236}">
                <a16:creationId xmlns:a16="http://schemas.microsoft.com/office/drawing/2014/main" id="{61711774-C4A7-783D-BF77-28F04856937E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prstClr val="black"/>
              <a:schemeClr val="accent6">
                <a:tint val="45000"/>
                <a:satMod val="400000"/>
              </a:schemeClr>
            </a:duotone>
            <a:alphaModFix/>
            <a:lum bright="30000" contrast="21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73612" y="2224548"/>
            <a:ext cx="2242782" cy="224278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5C4A66-DE10-A219-1AFF-9B1F35351BF2}"/>
              </a:ext>
            </a:extLst>
          </p:cNvPr>
          <p:cNvSpPr txBox="1"/>
          <p:nvPr/>
        </p:nvSpPr>
        <p:spPr>
          <a:xfrm>
            <a:off x="1322269" y="2224548"/>
            <a:ext cx="733011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>
              <a:defRPr b="1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Plus Jakarta Sans SemiBold"/>
              </a:defRPr>
            </a:lvl1pPr>
          </a:lstStyle>
          <a:p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Track Insurance Targets</a:t>
            </a:r>
          </a:p>
          <a:p>
            <a:r>
              <a:rPr lang="en-IN" sz="1400" b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Monitor real-time progress towards sales goals to quickly identify growth opportunities.</a:t>
            </a:r>
          </a:p>
          <a:p>
            <a:endParaRPr lang="en-IN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Analyse Policyholder Behaviour</a:t>
            </a:r>
          </a:p>
          <a:p>
            <a:r>
              <a:rPr lang="en-IN" sz="1400" b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Gain deep visibility into customer preferences and risk profiles to tailor insurance products effectively.</a:t>
            </a:r>
          </a:p>
          <a:p>
            <a:endParaRPr lang="en-IN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Optimize Operations</a:t>
            </a:r>
          </a:p>
          <a:p>
            <a:r>
              <a:rPr lang="en-IN" sz="1400" b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Streamline branch resource allocation and elevate overall administrative efficiency.</a:t>
            </a:r>
          </a:p>
          <a:p>
            <a:endParaRPr lang="en-IN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Drive Strategic Growth</a:t>
            </a:r>
          </a:p>
          <a:p>
            <a:r>
              <a:rPr lang="en-IN" sz="1400" b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Leverage data-driven insights to elevate branch performance and achieve overarching organizational objectives.</a:t>
            </a:r>
          </a:p>
        </p:txBody>
      </p:sp>
    </p:spTree>
    <p:extLst>
      <p:ext uri="{BB962C8B-B14F-4D97-AF65-F5344CB8AC3E}">
        <p14:creationId xmlns:p14="http://schemas.microsoft.com/office/powerpoint/2010/main" val="398781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511928-329D-B6F5-B5DC-84189970831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D1D31"/>
              </a:clrFrom>
              <a:clrTo>
                <a:srgbClr val="0D1D31">
                  <a:alpha val="0"/>
                </a:srgbClr>
              </a:clrTo>
            </a:clrChange>
          </a:blip>
          <a:srcRect l="767"/>
          <a:stretch>
            <a:fillRect/>
          </a:stretch>
        </p:blipFill>
        <p:spPr>
          <a:xfrm>
            <a:off x="1219198" y="877815"/>
            <a:ext cx="8640000" cy="58851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335D8D-98CE-A720-E672-3622D4B67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018" y="187086"/>
            <a:ext cx="540000" cy="5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ABCE17-FC1D-1933-D34D-9BCE1F118477}"/>
              </a:ext>
            </a:extLst>
          </p:cNvPr>
          <p:cNvSpPr txBox="1"/>
          <p:nvPr/>
        </p:nvSpPr>
        <p:spPr>
          <a:xfrm>
            <a:off x="2208899" y="391830"/>
            <a:ext cx="7878998" cy="3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52"/>
              </a:lnSpc>
            </a:pPr>
            <a:r>
              <a:rPr lang="en-IN" sz="4000" b="1" dirty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rPr>
              <a:t>Branch Dashboard Walkthrough</a:t>
            </a:r>
          </a:p>
        </p:txBody>
      </p:sp>
    </p:spTree>
    <p:extLst>
      <p:ext uri="{BB962C8B-B14F-4D97-AF65-F5344CB8AC3E}">
        <p14:creationId xmlns:p14="http://schemas.microsoft.com/office/powerpoint/2010/main" val="821528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AFFD-8982-FD31-9166-E08184B44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3785AC-08DA-B150-6F4C-CDA2C03CB57E}"/>
              </a:ext>
            </a:extLst>
          </p:cNvPr>
          <p:cNvSpPr txBox="1"/>
          <p:nvPr/>
        </p:nvSpPr>
        <p:spPr>
          <a:xfrm>
            <a:off x="2208899" y="391830"/>
            <a:ext cx="6607279" cy="3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52"/>
              </a:lnSpc>
            </a:pPr>
            <a:r>
              <a:rPr lang="en-IN" sz="4000" b="1" dirty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rPr>
              <a:t>Branch Dashboard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30861C-4320-665E-C338-5BE31269D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81" y="895467"/>
            <a:ext cx="10232392" cy="5775447"/>
          </a:xfrm>
          <a:prstGeom prst="rect">
            <a:avLst/>
          </a:prstGeom>
        </p:spPr>
      </p:pic>
      <p:pic>
        <p:nvPicPr>
          <p:cNvPr id="9" name="Picture 8" descr="Power BI Icon SVG Vector &amp; PNG Free Download | UXWing">
            <a:extLst>
              <a:ext uri="{FF2B5EF4-FFF2-40B4-BE49-F238E27FC236}">
                <a16:creationId xmlns:a16="http://schemas.microsoft.com/office/drawing/2014/main" id="{5CC34BB5-95FF-E517-454C-199F886AB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414" y="81593"/>
            <a:ext cx="628401" cy="62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88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B7D46-D83B-EE20-129C-41E3E1BD2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85FC7D3-0039-8652-2A03-D2145ED5A049}"/>
              </a:ext>
            </a:extLst>
          </p:cNvPr>
          <p:cNvSpPr txBox="1"/>
          <p:nvPr/>
        </p:nvSpPr>
        <p:spPr>
          <a:xfrm>
            <a:off x="2208899" y="391830"/>
            <a:ext cx="6607279" cy="3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52"/>
              </a:lnSpc>
            </a:pPr>
            <a:r>
              <a:rPr lang="en-IN" sz="4000" b="1" dirty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rPr>
              <a:t>Branch Dashboard Overview</a:t>
            </a:r>
          </a:p>
        </p:txBody>
      </p:sp>
      <p:pic>
        <p:nvPicPr>
          <p:cNvPr id="3" name="Picture 2" descr="MySQL transparent background PNG clipart | HiClipart">
            <a:extLst>
              <a:ext uri="{FF2B5EF4-FFF2-40B4-BE49-F238E27FC236}">
                <a16:creationId xmlns:a16="http://schemas.microsoft.com/office/drawing/2014/main" id="{3798C35B-DB09-B860-374D-9010F486C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50" b="99125" l="750" r="98500">
                        <a14:foregroundMark x1="37375" y1="9250" x2="37375" y2="9250"/>
                        <a14:foregroundMark x1="24375" y1="4250" x2="24375" y2="4250"/>
                        <a14:foregroundMark x1="33875" y1="17500" x2="33875" y2="17500"/>
                        <a14:foregroundMark x1="91125" y1="63000" x2="91125" y2="63000"/>
                        <a14:foregroundMark x1="49250" y1="65750" x2="49250" y2="65750"/>
                        <a14:foregroundMark x1="49625" y1="66250" x2="49625" y2="66250"/>
                        <a14:foregroundMark x1="94875" y1="66625" x2="94875" y2="66625"/>
                        <a14:foregroundMark x1="95375" y1="81500" x2="95375" y2="81500"/>
                        <a14:foregroundMark x1="96000" y1="66875" x2="96000" y2="66875"/>
                        <a14:foregroundMark x1="6750" y1="85625" x2="6750" y2="85625"/>
                        <a14:foregroundMark x1="750" y1="82375" x2="750" y2="82375"/>
                        <a14:foregroundMark x1="10500" y1="94125" x2="10500" y2="94125"/>
                        <a14:foregroundMark x1="27625" y1="90375" x2="27625" y2="90375"/>
                        <a14:foregroundMark x1="37125" y1="99125" x2="37125" y2="99125"/>
                        <a14:foregroundMark x1="46875" y1="94125" x2="46875" y2="94125"/>
                        <a14:foregroundMark x1="46375" y1="83625" x2="46375" y2="83625"/>
                        <a14:foregroundMark x1="50625" y1="88250" x2="50625" y2="88250"/>
                        <a14:foregroundMark x1="62750" y1="85500" x2="62750" y2="85500"/>
                        <a14:foregroundMark x1="80125" y1="85500" x2="80125" y2="85500"/>
                        <a14:foregroundMark x1="98500" y1="83625" x2="98500" y2="83625"/>
                        <a14:backgroundMark x1="96125" y1="93000" x2="96125" y2="93000"/>
                        <a14:backgroundMark x1="96250" y1="92375" x2="96250" y2="92375"/>
                        <a14:backgroundMark x1="97375" y1="92625" x2="97375" y2="92625"/>
                        <a14:backgroundMark x1="98125" y1="91375" x2="98125" y2="91375"/>
                        <a14:backgroundMark x1="97125" y1="91125" x2="97125" y2="91125"/>
                        <a14:backgroundMark x1="97500" y1="91000" x2="97500" y2="91000"/>
                        <a14:backgroundMark x1="96125" y1="91625" x2="96125" y2="91625"/>
                        <a14:backgroundMark x1="96125" y1="91500" x2="96125" y2="91500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1610" y="100229"/>
            <a:ext cx="583201" cy="583201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8047BE-0F5E-622D-82C2-4AF7D00AA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548" y="887449"/>
            <a:ext cx="10156723" cy="587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53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C1EBD-1726-8A8C-FA0C-E601361C5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8659FE1-8957-0AD3-6CF7-3800A966ACFD}"/>
              </a:ext>
            </a:extLst>
          </p:cNvPr>
          <p:cNvSpPr txBox="1"/>
          <p:nvPr/>
        </p:nvSpPr>
        <p:spPr>
          <a:xfrm>
            <a:off x="1317521" y="371564"/>
            <a:ext cx="8082117" cy="3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52"/>
              </a:lnSpc>
            </a:pPr>
            <a:r>
              <a:rPr lang="en-IN" sz="4000" b="1" dirty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rPr>
              <a:t>Key Performance Indicators (KPIs)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0FA28B9-F7D2-443A-457D-F1CDD02DC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326" y="851370"/>
            <a:ext cx="7146070" cy="98839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E91F06A-57DE-3126-3EC2-589F13F42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699" y="1864764"/>
            <a:ext cx="7214782" cy="111525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132E8F1-2501-1AF5-AF3F-9B770FBDBEC2}"/>
              </a:ext>
            </a:extLst>
          </p:cNvPr>
          <p:cNvSpPr txBox="1"/>
          <p:nvPr/>
        </p:nvSpPr>
        <p:spPr>
          <a:xfrm>
            <a:off x="1197699" y="3070116"/>
            <a:ext cx="96723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i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us Jakarta Sans SemiBold"/>
              </a:rPr>
              <a:t>KPI Summary </a:t>
            </a:r>
          </a:p>
          <a:p>
            <a:pPr>
              <a:buNone/>
            </a:pPr>
            <a:r>
              <a:rPr lang="en-IN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Portfolio Scale</a:t>
            </a:r>
          </a:p>
          <a:p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Managing a base of </a:t>
            </a:r>
            <a:r>
              <a:rPr lang="en-IN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5,000 customers</a:t>
            </a:r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 holding an equal total of </a:t>
            </a:r>
            <a:r>
              <a:rPr lang="en-IN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5,000 policies</a:t>
            </a:r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 (driven primarily by Health as max policies and Auto as min policies).</a:t>
            </a:r>
          </a:p>
          <a:p>
            <a:endParaRPr lang="en-IN" sz="1400" dirty="0">
              <a:solidFill>
                <a:schemeClr val="accent5">
                  <a:lumMod val="20000"/>
                  <a:lumOff val="80000"/>
                </a:schemeClr>
              </a:solidFill>
              <a:latin typeface="Plus Jakarta Sans SemiBold"/>
            </a:endParaRPr>
          </a:p>
          <a:p>
            <a:r>
              <a:rPr lang="en-IN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Demographic Concentration</a:t>
            </a:r>
          </a:p>
          <a:p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Core policy participation is heavily anchored by the </a:t>
            </a:r>
            <a:r>
              <a:rPr lang="en-IN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28–37 age group</a:t>
            </a:r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 and </a:t>
            </a:r>
            <a:r>
              <a:rPr lang="en-IN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Male</a:t>
            </a:r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 demographics.</a:t>
            </a:r>
          </a:p>
          <a:p>
            <a:endParaRPr lang="en-IN" sz="1400" dirty="0">
              <a:solidFill>
                <a:schemeClr val="accent5">
                  <a:lumMod val="20000"/>
                  <a:lumOff val="80000"/>
                </a:schemeClr>
              </a:solidFill>
              <a:latin typeface="Plus Jakarta Sans SemiBold"/>
            </a:endParaRPr>
          </a:p>
          <a:p>
            <a:r>
              <a:rPr lang="en-IN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Financial Risk &amp; Liability</a:t>
            </a:r>
          </a:p>
          <a:p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Total claim liabilities stand significantly high at </a:t>
            </a:r>
            <a:r>
              <a:rPr lang="en-IN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$251.4M</a:t>
            </a:r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 with </a:t>
            </a:r>
            <a:r>
              <a:rPr lang="en-IN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66.36% </a:t>
            </a:r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of Inactive policies, balanced against an average coverage of </a:t>
            </a:r>
            <a:r>
              <a:rPr lang="en-IN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$254.56K</a:t>
            </a:r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 and an average premium yield of </a:t>
            </a:r>
            <a:r>
              <a:rPr lang="en-IN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$1.05K </a:t>
            </a:r>
          </a:p>
          <a:p>
            <a:endParaRPr lang="en-IN" sz="1400" dirty="0">
              <a:solidFill>
                <a:schemeClr val="accent5">
                  <a:lumMod val="20000"/>
                  <a:lumOff val="80000"/>
                </a:schemeClr>
              </a:solidFill>
              <a:latin typeface="Plus Jakarta Sans SemiBold"/>
            </a:endParaRPr>
          </a:p>
          <a:p>
            <a:r>
              <a:rPr lang="en-IN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Financial Growth Trajectory</a:t>
            </a:r>
          </a:p>
          <a:p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Premium growth rate is currently tracking at a modest </a:t>
            </a:r>
            <a:r>
              <a:rPr lang="en-IN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1.65%</a:t>
            </a:r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/>
              </a:rPr>
              <a:t> (highest to lowest).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3FF4CD9-DA87-7CE2-687D-6A3A8C165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115" y="1981478"/>
            <a:ext cx="2932525" cy="1317640"/>
          </a:xfrm>
          <a:prstGeom prst="rect">
            <a:avLst/>
          </a:prstGeom>
        </p:spPr>
      </p:pic>
      <p:pic>
        <p:nvPicPr>
          <p:cNvPr id="2" name="Picture 1" descr="8,000+ High To Low Icon Stock Illustrations, Royalty-Free Vector Graphics &amp;  Clip Art - iStock">
            <a:extLst>
              <a:ext uri="{FF2B5EF4-FFF2-40B4-BE49-F238E27FC236}">
                <a16:creationId xmlns:a16="http://schemas.microsoft.com/office/drawing/2014/main" id="{8516AE64-82A2-D3B6-757D-DAF891417BD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21078" y1="34069" x2="21078" y2="34069"/>
                        <a14:foregroundMark x1="32353" y1="65196" x2="32353" y2="65196"/>
                        <a14:foregroundMark x1="36601" y1="69363" x2="36601" y2="69363"/>
                        <a14:foregroundMark x1="39542" y1="71814" x2="39542" y2="71814"/>
                        <a14:foregroundMark x1="21242" y1="69118" x2="21242" y2="69118"/>
                        <a14:foregroundMark x1="22059" y1="77941" x2="22059" y2="77941"/>
                        <a14:foregroundMark x1="63235" y1="31863" x2="63235" y2="31863"/>
                        <a14:foregroundMark x1="62582" y1="22059" x2="62582" y2="22059"/>
                        <a14:foregroundMark x1="71569" y1="23775" x2="71569" y2="23775"/>
                        <a14:foregroundMark x1="79739" y1="27941" x2="79739" y2="27941"/>
                        <a14:foregroundMark x1="80882" y1="34314" x2="80882" y2="34314"/>
                      </a14:backgroundRemoval>
                    </a14:imgEffect>
                    <a14:imgEffect>
                      <a14:artisticMark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29859" y="371564"/>
            <a:ext cx="1824815" cy="12165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  <a:bevelB w="152400" h="50800" prst="softRound"/>
          </a:sp3d>
        </p:spPr>
      </p:pic>
    </p:spTree>
    <p:extLst>
      <p:ext uri="{BB962C8B-B14F-4D97-AF65-F5344CB8AC3E}">
        <p14:creationId xmlns:p14="http://schemas.microsoft.com/office/powerpoint/2010/main" val="1137547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302F-4F89-B571-EC39-7ACB05A70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53D1FF-DCBC-FEBF-AA09-065BB99B1201}"/>
              </a:ext>
            </a:extLst>
          </p:cNvPr>
          <p:cNvSpPr txBox="1"/>
          <p:nvPr/>
        </p:nvSpPr>
        <p:spPr>
          <a:xfrm>
            <a:off x="1317521" y="371564"/>
            <a:ext cx="8082117" cy="3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52"/>
              </a:lnSpc>
            </a:pPr>
            <a:r>
              <a:rPr lang="en-IN" sz="4000" b="1" dirty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rPr>
              <a:t>Key Performance Indicators (KPIs)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6AC1BFA-E261-63DD-D087-3A4D32FD8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294" y="866029"/>
            <a:ext cx="3044135" cy="189044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28C5CA5-C033-901C-18D7-94FE57F969EA}"/>
              </a:ext>
            </a:extLst>
          </p:cNvPr>
          <p:cNvSpPr txBox="1"/>
          <p:nvPr/>
        </p:nvSpPr>
        <p:spPr>
          <a:xfrm>
            <a:off x="1168400" y="3069441"/>
            <a:ext cx="986536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b="1" i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us Jakarta Sans SemiBold"/>
              </a:defRPr>
            </a:lvl1pPr>
          </a:lstStyle>
          <a:p>
            <a:r>
              <a:rPr lang="en-IN" dirty="0"/>
              <a:t>Summary</a:t>
            </a:r>
          </a:p>
          <a:p>
            <a:r>
              <a:rPr lang="en-IN" i="0" dirty="0"/>
              <a:t>Age-Wise Policy Distribution: </a:t>
            </a:r>
          </a:p>
          <a:p>
            <a:r>
              <a:rPr lang="en-IN" sz="1400" b="0" dirty="0"/>
              <a:t>Peak policy adoption is concentrated in the 28–37 age group (785 policies) and 38–47 age group (759 policies), while the 78–87 age group records the lowest count (588 policies).</a:t>
            </a:r>
          </a:p>
          <a:p>
            <a:endParaRPr lang="en-IN" sz="1400" i="0" dirty="0"/>
          </a:p>
          <a:p>
            <a:r>
              <a:rPr lang="en-IN" i="0" dirty="0"/>
              <a:t>Gender-Wise Policy Distribution:</a:t>
            </a:r>
            <a:r>
              <a:rPr lang="en-IN" dirty="0"/>
              <a:t> </a:t>
            </a:r>
          </a:p>
          <a:p>
            <a:r>
              <a:rPr lang="en-IN" sz="1400" b="0" dirty="0"/>
              <a:t>Policy distribution is evenly balanced across genders, with Male leading slightly at 34% (1,705 policies), followed closely by Female at 33% (1,640 policies) and Other at 33% (1,655 policies).</a:t>
            </a:r>
          </a:p>
          <a:p>
            <a:endParaRPr lang="en-IN" sz="1400" dirty="0"/>
          </a:p>
          <a:p>
            <a:r>
              <a:rPr lang="en-IN" i="0" dirty="0"/>
              <a:t>Policy Type vs. Policy Count: </a:t>
            </a:r>
          </a:p>
          <a:p>
            <a:r>
              <a:rPr lang="en-IN" sz="1400" b="0" i="0" dirty="0"/>
              <a:t>Health policies record the highest volume with 1,316 count, whereas Auto records the lowest count at 1,214, alongside Life (1,234) and Property (1,236).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13F5457-6641-9A99-8CE7-5A07398774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51446"/>
              </p:ext>
            </p:extLst>
          </p:nvPr>
        </p:nvGraphicFramePr>
        <p:xfrm>
          <a:off x="4370613" y="866029"/>
          <a:ext cx="3044135" cy="1890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2428E4F-CDDB-7960-DE73-419618FACB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0721477"/>
              </p:ext>
            </p:extLst>
          </p:nvPr>
        </p:nvGraphicFramePr>
        <p:xfrm>
          <a:off x="7482444" y="866029"/>
          <a:ext cx="3044135" cy="1890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" name="Picture 1" descr="KPI Dashboard icon 27653762 Vector Art at Vecteezy">
            <a:extLst>
              <a:ext uri="{FF2B5EF4-FFF2-40B4-BE49-F238E27FC236}">
                <a16:creationId xmlns:a16="http://schemas.microsoft.com/office/drawing/2014/main" id="{29E71AEF-C23F-8144-799F-D67029C90D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612" b="90000" l="10000" r="96020">
                        <a14:foregroundMark x1="11122" y1="38878" x2="17143" y2="63061"/>
                        <a14:foregroundMark x1="17143" y1="63061" x2="16939" y2="66122"/>
                        <a14:foregroundMark x1="36020" y1="57347" x2="36224" y2="73265"/>
                        <a14:foregroundMark x1="53367" y1="65306" x2="53367" y2="76837"/>
                        <a14:foregroundMark x1="73673" y1="74388" x2="73673" y2="84490"/>
                        <a14:foregroundMark x1="92857" y1="57143" x2="92857" y2="68367"/>
                        <a14:foregroundMark x1="96020" y1="60510" x2="96122" y2="63776"/>
                        <a14:foregroundMark x1="59796" y1="25102" x2="57449" y2="27551"/>
                        <a14:foregroundMark x1="58163" y1="17143" x2="50000" y2="19286"/>
                        <a14:foregroundMark x1="48571" y1="7245" x2="61122" y2="5612"/>
                        <a14:foregroundMark x1="61122" y1="5612" x2="61837" y2="5816"/>
                        <a14:foregroundMark x1="77653" y1="46327" x2="76224" y2="48163"/>
                        <a14:backgroundMark x1="20918" y1="18469" x2="20918" y2="18469"/>
                        <a14:backgroundMark x1="16939" y1="16837" x2="16939" y2="16837"/>
                        <a14:backgroundMark x1="18265" y1="22653" x2="18265" y2="22653"/>
                        <a14:backgroundMark x1="38673" y1="13673" x2="38673" y2="13673"/>
                        <a14:backgroundMark x1="46122" y1="10510" x2="46122" y2="10510"/>
                        <a14:backgroundMark x1="42143" y1="11735" x2="42143" y2="11735"/>
                        <a14:backgroundMark x1="42143" y1="11735" x2="42143" y2="11735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77158" y="40307"/>
            <a:ext cx="1298842" cy="12988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9989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16126-132C-475F-C797-68521D7B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C667E30-F10C-8666-DC31-FDB31732673D}"/>
              </a:ext>
            </a:extLst>
          </p:cNvPr>
          <p:cNvSpPr txBox="1"/>
          <p:nvPr/>
        </p:nvSpPr>
        <p:spPr>
          <a:xfrm>
            <a:off x="1317521" y="371564"/>
            <a:ext cx="8082117" cy="3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52"/>
              </a:lnSpc>
            </a:pPr>
            <a:r>
              <a:rPr lang="en-IN" sz="4000" b="1" dirty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rPr>
              <a:t>Key Performance Indicators (KPIs)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879DE7-C5C7-6AD6-CF58-1465A616280C}"/>
              </a:ext>
            </a:extLst>
          </p:cNvPr>
          <p:cNvSpPr txBox="1"/>
          <p:nvPr/>
        </p:nvSpPr>
        <p:spPr>
          <a:xfrm>
            <a:off x="1168400" y="3486001"/>
            <a:ext cx="986536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b="1" i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us Jakarta Sans SemiBold"/>
              </a:defRPr>
            </a:lvl1pPr>
          </a:lstStyle>
          <a:p>
            <a:r>
              <a:rPr lang="en-IN" dirty="0"/>
              <a:t>Summary</a:t>
            </a:r>
          </a:p>
          <a:p>
            <a:r>
              <a:rPr lang="en-IN" i="0" dirty="0"/>
              <a:t>Policy Maturity &amp; Expiration: </a:t>
            </a:r>
          </a:p>
          <a:p>
            <a:r>
              <a:rPr lang="en-US" sz="1400" b="0" dirty="0"/>
              <a:t>The Policy End Year analysis highlights a multi-year maturity cycle, showing a steady rise in expirations that peaks notably in </a:t>
            </a:r>
            <a:r>
              <a:rPr lang="en-US" sz="1400" dirty="0"/>
              <a:t>2025</a:t>
            </a:r>
            <a:r>
              <a:rPr lang="en-US" sz="1400" b="0" dirty="0"/>
              <a:t> </a:t>
            </a:r>
            <a:r>
              <a:rPr lang="en-US" sz="1400" dirty="0"/>
              <a:t>at 526</a:t>
            </a:r>
            <a:r>
              <a:rPr lang="en-US" sz="1400" b="0" dirty="0"/>
              <a:t> policies before gradually declining through </a:t>
            </a:r>
            <a:r>
              <a:rPr lang="en-US" sz="1400" dirty="0"/>
              <a:t>2034</a:t>
            </a:r>
            <a:r>
              <a:rPr lang="en-US" sz="1400" b="0" dirty="0"/>
              <a:t>.</a:t>
            </a:r>
          </a:p>
          <a:p>
            <a:endParaRPr lang="en-IN" sz="1400" i="0" dirty="0"/>
          </a:p>
          <a:p>
            <a:r>
              <a:rPr lang="en-IN" dirty="0"/>
              <a:t>Premium Expansion Performance</a:t>
            </a:r>
          </a:p>
          <a:p>
            <a:r>
              <a:rPr lang="en-IN" sz="1400" b="0" i="0" dirty="0"/>
              <a:t>Peak growth years like </a:t>
            </a:r>
            <a:r>
              <a:rPr lang="en-IN" sz="1400" i="0" dirty="0"/>
              <a:t>2022 (10.69%</a:t>
            </a:r>
            <a:r>
              <a:rPr lang="en-IN" sz="1400" b="0" i="0" dirty="0"/>
              <a:t>) and </a:t>
            </a:r>
            <a:r>
              <a:rPr lang="en-IN" sz="1400" i="0" dirty="0"/>
              <a:t>2016 (10.65%) </a:t>
            </a:r>
            <a:r>
              <a:rPr lang="en-IN" sz="1400" b="0" i="0" dirty="0"/>
              <a:t>at the forefront. Even though there is regular up and down in the performance, the difference in highest to lowest growth rate stands at </a:t>
            </a:r>
            <a:r>
              <a:rPr lang="en-IN" sz="1400" i="0" dirty="0"/>
              <a:t>1.65% </a:t>
            </a:r>
            <a:r>
              <a:rPr lang="en-IN" sz="1400" b="0" i="0" dirty="0"/>
              <a:t>which shows the consistency or balanced premium rate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3175BD8-63F6-F828-5244-11C9093F3F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2090521"/>
              </p:ext>
            </p:extLst>
          </p:nvPr>
        </p:nvGraphicFramePr>
        <p:xfrm>
          <a:off x="1168400" y="864682"/>
          <a:ext cx="4437131" cy="23910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001CC93-7555-8092-4FA9-AE55C0DA80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9858613"/>
              </p:ext>
            </p:extLst>
          </p:nvPr>
        </p:nvGraphicFramePr>
        <p:xfrm>
          <a:off x="5751499" y="865768"/>
          <a:ext cx="4664421" cy="2389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 descr="KPI Dashboard icon 27653762 Vector Art at Vecteezy">
            <a:extLst>
              <a:ext uri="{FF2B5EF4-FFF2-40B4-BE49-F238E27FC236}">
                <a16:creationId xmlns:a16="http://schemas.microsoft.com/office/drawing/2014/main" id="{B1549D77-FBF1-8D09-C7BD-3A828CFD4E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612" b="90000" l="10000" r="96020">
                        <a14:foregroundMark x1="11122" y1="38878" x2="17143" y2="63061"/>
                        <a14:foregroundMark x1="17143" y1="63061" x2="16939" y2="66122"/>
                        <a14:foregroundMark x1="36020" y1="57347" x2="36224" y2="73265"/>
                        <a14:foregroundMark x1="53367" y1="65306" x2="53367" y2="76837"/>
                        <a14:foregroundMark x1="73673" y1="74388" x2="73673" y2="84490"/>
                        <a14:foregroundMark x1="92857" y1="57143" x2="92857" y2="68367"/>
                        <a14:foregroundMark x1="96020" y1="60510" x2="96122" y2="63776"/>
                        <a14:foregroundMark x1="59796" y1="25102" x2="57449" y2="27551"/>
                        <a14:foregroundMark x1="58163" y1="17143" x2="50000" y2="19286"/>
                        <a14:foregroundMark x1="48571" y1="7245" x2="61122" y2="5612"/>
                        <a14:foregroundMark x1="61122" y1="5612" x2="61837" y2="5816"/>
                        <a14:foregroundMark x1="77653" y1="46327" x2="76224" y2="48163"/>
                        <a14:backgroundMark x1="20918" y1="18469" x2="20918" y2="18469"/>
                        <a14:backgroundMark x1="16939" y1="16837" x2="16939" y2="16837"/>
                        <a14:backgroundMark x1="18265" y1="22653" x2="18265" y2="22653"/>
                        <a14:backgroundMark x1="38673" y1="13673" x2="38673" y2="13673"/>
                        <a14:backgroundMark x1="46122" y1="10510" x2="46122" y2="10510"/>
                        <a14:backgroundMark x1="42143" y1="11735" x2="42143" y2="11735"/>
                        <a14:backgroundMark x1="42143" y1="11735" x2="42143" y2="11735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77158" y="40307"/>
            <a:ext cx="1298842" cy="12988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9997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DB39C-6121-4230-33C6-B5757F6B0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4FC5C36-C878-D7C4-68A5-2B727C3D040F}"/>
              </a:ext>
            </a:extLst>
          </p:cNvPr>
          <p:cNvSpPr txBox="1"/>
          <p:nvPr/>
        </p:nvSpPr>
        <p:spPr>
          <a:xfrm>
            <a:off x="1317521" y="371564"/>
            <a:ext cx="8082117" cy="3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52"/>
              </a:lnSpc>
            </a:pPr>
            <a:r>
              <a:rPr lang="en-IN" sz="4000" b="1" dirty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rPr>
              <a:t>Key Insights &amp; Takeaways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C4DCEF-5A6B-7434-AAA6-66F1D145AEFD}"/>
              </a:ext>
            </a:extLst>
          </p:cNvPr>
          <p:cNvSpPr txBox="1"/>
          <p:nvPr/>
        </p:nvSpPr>
        <p:spPr>
          <a:xfrm>
            <a:off x="1163320" y="1204917"/>
            <a:ext cx="4716370" cy="467820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b="1" i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us Jakarta Sans SemiBold"/>
              </a:defRPr>
            </a:lvl1pPr>
          </a:lstStyle>
          <a:p>
            <a:r>
              <a:rPr lang="en-IN" dirty="0">
                <a:solidFill>
                  <a:srgbClr val="92D050"/>
                </a:solidFill>
              </a:rPr>
              <a:t>Strengths </a:t>
            </a:r>
          </a:p>
          <a:p>
            <a:pPr lvl="0"/>
            <a:r>
              <a:rPr lang="en-IN" sz="14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Robust Portfolio Scale: </a:t>
            </a:r>
          </a:p>
          <a:p>
            <a:pPr lvl="0"/>
            <a:r>
              <a:rPr lang="en-IN" sz="1400" dirty="0">
                <a:effectLst/>
              </a:rPr>
              <a:t>Solid customer base of 5,000 customers maintaining a balanced 1:1 policy-to-customer ratio.</a:t>
            </a:r>
          </a:p>
          <a:p>
            <a:pPr lvl="0"/>
            <a:r>
              <a:rPr lang="en-IN" sz="14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Core Demographic Engagement: </a:t>
            </a:r>
          </a:p>
          <a:p>
            <a:pPr lvl="0"/>
            <a:r>
              <a:rPr lang="en-IN" sz="1400" dirty="0">
                <a:effectLst/>
              </a:rPr>
              <a:t>Mid-age adults (28–37) demonstrate strong and consistent interest across our overall insurance offerings.</a:t>
            </a:r>
          </a:p>
          <a:p>
            <a:pPr lvl="0"/>
            <a:r>
              <a:rPr lang="en-IN" sz="14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Leading Buyer Segment: </a:t>
            </a:r>
          </a:p>
          <a:p>
            <a:pPr lvl="0"/>
            <a:r>
              <a:rPr lang="en-IN" sz="1400" dirty="0">
                <a:effectLst/>
              </a:rPr>
              <a:t>Male clients represent the highest volume of insurance policy buyers.</a:t>
            </a:r>
          </a:p>
          <a:p>
            <a:pPr lvl="0"/>
            <a:r>
              <a:rPr lang="en-IN" sz="14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Consistent Financial Yield: </a:t>
            </a:r>
          </a:p>
          <a:p>
            <a:pPr lvl="0"/>
            <a:r>
              <a:rPr lang="en-IN" sz="1400" dirty="0">
                <a:effectLst/>
              </a:rPr>
              <a:t>Premium growth rate has maintained stability across the operational years.</a:t>
            </a:r>
          </a:p>
          <a:p>
            <a:pPr lvl="0"/>
            <a:r>
              <a:rPr lang="en-IN" sz="14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Top-Performing Product: </a:t>
            </a:r>
          </a:p>
          <a:p>
            <a:pPr lvl="0"/>
            <a:r>
              <a:rPr lang="en-IN" sz="1400" dirty="0">
                <a:effectLst/>
              </a:rPr>
              <a:t>Health insurance stands out as our most-selling product category.</a:t>
            </a:r>
          </a:p>
          <a:p>
            <a:pPr lvl="0"/>
            <a:r>
              <a:rPr lang="en-IN" sz="14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High Engagement Segment: </a:t>
            </a:r>
          </a:p>
          <a:p>
            <a:pPr lvl="0"/>
            <a:r>
              <a:rPr lang="en-IN" sz="1400" dirty="0">
                <a:effectLst/>
              </a:rPr>
              <a:t>Female policyholders maintain the highest proportion of active policies.</a:t>
            </a:r>
          </a:p>
          <a:p>
            <a:endParaRPr lang="en-IN" sz="1200" b="0" i="0" dirty="0"/>
          </a:p>
          <a:p>
            <a:endParaRPr lang="en-US" sz="1200" b="0" dirty="0"/>
          </a:p>
        </p:txBody>
      </p:sp>
      <p:pic>
        <p:nvPicPr>
          <p:cNvPr id="10" name="Picture 9" descr="Clip Black And White Good And Bad Clipart - Certo Errado - Free Transparent  PNG Clipart Images Download">
            <a:extLst>
              <a:ext uri="{FF2B5EF4-FFF2-40B4-BE49-F238E27FC236}">
                <a16:creationId xmlns:a16="http://schemas.microsoft.com/office/drawing/2014/main" id="{0A3F9E51-078E-2E84-163F-ED32F007C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7738" y1="30263" x2="57738" y2="30263"/>
                        <a14:foregroundMark x1="72143" y1="18158" x2="65595" y2="23158"/>
                        <a14:foregroundMark x1="65595" y1="23158" x2="58452" y2="40000"/>
                        <a14:foregroundMark x1="58452" y1="40000" x2="57738" y2="59211"/>
                        <a14:foregroundMark x1="68690" y1="20526" x2="82381" y2="24737"/>
                        <a14:foregroundMark x1="82381" y1="24737" x2="87619" y2="44474"/>
                        <a14:foregroundMark x1="88095" y1="40263" x2="88095" y2="64737"/>
                        <a14:foregroundMark x1="53810" y1="54211" x2="60000" y2="78421"/>
                        <a14:foregroundMark x1="60000" y1="78421" x2="70000" y2="86842"/>
                        <a14:foregroundMark x1="83333" y1="55526" x2="79048" y2="76053"/>
                      </a14:backgroundRemoval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l="7267" t="6384" r="50365" b="5180"/>
          <a:stretch>
            <a:fillRect/>
          </a:stretch>
        </p:blipFill>
        <p:spPr>
          <a:xfrm>
            <a:off x="3194839" y="947204"/>
            <a:ext cx="653332" cy="616930"/>
          </a:xfrm>
          <a:prstGeom prst="rect">
            <a:avLst/>
          </a:prstGeom>
          <a:effectLst/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2AAFD92-8ABD-F494-1485-CA0A38E474A2}"/>
              </a:ext>
            </a:extLst>
          </p:cNvPr>
          <p:cNvSpPr txBox="1"/>
          <p:nvPr/>
        </p:nvSpPr>
        <p:spPr>
          <a:xfrm>
            <a:off x="6233652" y="1245837"/>
            <a:ext cx="4528229" cy="458587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b="1" i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us Jakarta Sans SemiBold"/>
              </a:defRPr>
            </a:lvl1pPr>
          </a:lstStyle>
          <a:p>
            <a:r>
              <a:rPr lang="en-IN" sz="1600" dirty="0">
                <a:solidFill>
                  <a:schemeClr val="accent2">
                    <a:lumMod val="75000"/>
                  </a:schemeClr>
                </a:solidFill>
                <a:effectLst/>
              </a:rPr>
              <a:t>Weaknesses</a:t>
            </a:r>
          </a:p>
          <a:p>
            <a:pPr lvl="0"/>
            <a:r>
              <a:rPr lang="en-IN" sz="14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High Inactivity Rate: </a:t>
            </a:r>
          </a:p>
          <a:p>
            <a:pPr lvl="0"/>
            <a:r>
              <a:rPr lang="en-IN" sz="1200" dirty="0">
                <a:effectLst/>
              </a:rPr>
              <a:t>Inactive policies account for a significantly high portion of the portfolio at approximately 66%.</a:t>
            </a:r>
          </a:p>
          <a:p>
            <a:pPr lvl="0"/>
            <a:r>
              <a:rPr lang="en-IN" sz="14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Financial Strain &amp; Declining Premiums: </a:t>
            </a:r>
          </a:p>
          <a:p>
            <a:pPr lvl="0"/>
            <a:r>
              <a:rPr lang="en-IN" sz="1200" dirty="0">
                <a:effectLst/>
              </a:rPr>
              <a:t>Premium paid amounts are decreasing over the years while the company simultaneously faces a heavy burden to settle claims for active policies.</a:t>
            </a:r>
          </a:p>
          <a:p>
            <a:pPr lvl="0"/>
            <a:r>
              <a:rPr lang="en-IN" sz="14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Disengaged Buyer Segment: </a:t>
            </a:r>
          </a:p>
          <a:p>
            <a:pPr lvl="0"/>
            <a:r>
              <a:rPr lang="en-IN" sz="1200" dirty="0">
                <a:effectLst/>
              </a:rPr>
              <a:t>Despite registering the highest volume of policies, male clients also account for a disproportionately higher number of inactive policies.</a:t>
            </a:r>
          </a:p>
          <a:p>
            <a:pPr lvl="0"/>
            <a:r>
              <a:rPr lang="en-IN" sz="14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Post-2025 Expiration Decline: </a:t>
            </a:r>
          </a:p>
          <a:p>
            <a:pPr lvl="0"/>
            <a:r>
              <a:rPr lang="en-IN" sz="1200" dirty="0">
                <a:effectLst/>
              </a:rPr>
              <a:t>Policy expiration and maturity rates show a notable downward trend following the year 2025.</a:t>
            </a:r>
          </a:p>
          <a:p>
            <a:pPr lvl="0"/>
            <a:r>
              <a:rPr lang="en-IN" sz="14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Stagnant Policy Expansion: </a:t>
            </a:r>
          </a:p>
          <a:p>
            <a:pPr lvl="0"/>
            <a:r>
              <a:rPr lang="en-IN" sz="1200" dirty="0">
                <a:effectLst/>
              </a:rPr>
              <a:t>Overall policy and premium growth experiences a declining trend following the year 2022.</a:t>
            </a:r>
          </a:p>
          <a:p>
            <a:pPr lvl="0"/>
            <a:r>
              <a:rPr lang="en-IN" sz="14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Outdated Transaction Preferences: </a:t>
            </a:r>
          </a:p>
          <a:p>
            <a:pPr lvl="0"/>
            <a:r>
              <a:rPr lang="en-IN" sz="1200" dirty="0">
                <a:effectLst/>
              </a:rPr>
              <a:t>Cash remains the primary payment method utilized for policies, posing efficiency and operational challenges.</a:t>
            </a:r>
          </a:p>
          <a:p>
            <a:pPr lvl="0"/>
            <a:endParaRPr lang="en-IN" sz="1200" dirty="0">
              <a:effectLst/>
            </a:endParaRPr>
          </a:p>
          <a:p>
            <a:pPr lvl="0"/>
            <a:endParaRPr lang="en-IN" sz="1200" dirty="0">
              <a:effectLst/>
            </a:endParaRPr>
          </a:p>
          <a:p>
            <a:pPr lvl="0"/>
            <a:endParaRPr lang="en-IN" sz="1200" dirty="0">
              <a:effectLst/>
            </a:endParaRPr>
          </a:p>
        </p:txBody>
      </p:sp>
      <p:pic>
        <p:nvPicPr>
          <p:cNvPr id="8" name="Picture 7" descr="Clip Black And White Good And Bad Clipart - Certo Errado - Free Transparent  PNG Clipart Images Download">
            <a:extLst>
              <a:ext uri="{FF2B5EF4-FFF2-40B4-BE49-F238E27FC236}">
                <a16:creationId xmlns:a16="http://schemas.microsoft.com/office/drawing/2014/main" id="{6A823C29-2576-F3E3-CDAE-E07BA89F94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7738" y1="30263" x2="57738" y2="30263"/>
                        <a14:foregroundMark x1="72143" y1="18158" x2="65595" y2="23158"/>
                        <a14:foregroundMark x1="65595" y1="23158" x2="58452" y2="40000"/>
                        <a14:foregroundMark x1="58452" y1="40000" x2="57738" y2="59211"/>
                        <a14:foregroundMark x1="68690" y1="20526" x2="82381" y2="24737"/>
                        <a14:foregroundMark x1="82381" y1="24737" x2="87619" y2="44474"/>
                        <a14:foregroundMark x1="88095" y1="40263" x2="88095" y2="64737"/>
                        <a14:foregroundMark x1="53810" y1="54211" x2="60000" y2="78421"/>
                        <a14:foregroundMark x1="60000" y1="78421" x2="70000" y2="86842"/>
                        <a14:foregroundMark x1="83333" y1="55526" x2="79048" y2="76053"/>
                      </a14:backgroundRemoval>
                    </a14:imgEffect>
                    <a14:imgEffect>
                      <a14:saturation sat="400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l="50365" r="7267"/>
          <a:stretch>
            <a:fillRect/>
          </a:stretch>
        </p:blipFill>
        <p:spPr>
          <a:xfrm>
            <a:off x="8343831" y="874305"/>
            <a:ext cx="637681" cy="68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895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612BB-0A17-4D5F-20F4-0FCD0858B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8BACC21-F9CC-31BA-6CA7-0F60BDD4B607}"/>
              </a:ext>
            </a:extLst>
          </p:cNvPr>
          <p:cNvSpPr txBox="1"/>
          <p:nvPr/>
        </p:nvSpPr>
        <p:spPr>
          <a:xfrm>
            <a:off x="1317521" y="371564"/>
            <a:ext cx="8082117" cy="3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52"/>
              </a:lnSpc>
            </a:pPr>
            <a:r>
              <a:rPr lang="en-IN" sz="4000" b="1" dirty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rPr>
              <a:t>Strategic Recommendations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DF4F99-A479-C86C-20B8-02DBD678C59C}"/>
              </a:ext>
            </a:extLst>
          </p:cNvPr>
          <p:cNvSpPr txBox="1"/>
          <p:nvPr/>
        </p:nvSpPr>
        <p:spPr>
          <a:xfrm>
            <a:off x="1055166" y="914104"/>
            <a:ext cx="914088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b="1" i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us Jakarta Sans SemiBold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0" dirty="0"/>
          </a:p>
          <a:p>
            <a:pPr marL="342900" indent="-342900">
              <a:buAutoNum type="arabicPeriod"/>
            </a:pPr>
            <a:r>
              <a:rPr lang="en-IN" dirty="0">
                <a:effectLst/>
              </a:rPr>
              <a:t>Increase Productivity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Modernize Payment Processing: </a:t>
            </a:r>
          </a:p>
          <a:p>
            <a:pPr lvl="0"/>
            <a:r>
              <a:rPr lang="en-IN" sz="1000" dirty="0">
                <a:effectLst/>
              </a:rPr>
              <a:t>Transition operations away from the high preference for cash payments by introducing automated digital gateways, mobile wallet solutions, and instant bank transfers to reduce administrative overhead and manual reconciliation friction.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Automate Policy Lifecycle Management: </a:t>
            </a:r>
          </a:p>
          <a:p>
            <a:pPr lvl="0"/>
            <a:r>
              <a:rPr lang="en-IN" sz="1000" dirty="0">
                <a:effectLst/>
              </a:rPr>
              <a:t>Streamline backend workflows to tackle the steep decline in policy end years and prevent processing bottlenecks around the 2025 expiration spike.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Optimize Resource Allocation: </a:t>
            </a:r>
          </a:p>
          <a:p>
            <a:pPr lvl="0"/>
            <a:r>
              <a:rPr lang="en-IN" sz="1000" dirty="0">
                <a:effectLst/>
              </a:rPr>
              <a:t>Direct sales and customer support teams to focus efforts on underperforming segments.</a:t>
            </a:r>
          </a:p>
          <a:p>
            <a:pPr lvl="0"/>
            <a:endParaRPr lang="en-IN" sz="1000" dirty="0">
              <a:effectLst/>
            </a:endParaRPr>
          </a:p>
          <a:p>
            <a:r>
              <a:rPr lang="en-IN" dirty="0">
                <a:effectLst/>
              </a:rPr>
              <a:t>2. Strengthen Client Relationships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Targeted Engagement for Inactive Policyholders: </a:t>
            </a:r>
          </a:p>
          <a:p>
            <a:pPr lvl="0"/>
            <a:r>
              <a:rPr lang="en-IN" sz="1000" dirty="0">
                <a:effectLst/>
              </a:rPr>
              <a:t>Since policyholders show a higher rate of inactivity, deploy tailored re-engagement campaigns, loyalty perks, and personalized check-ins to win back disengaged clients.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Enhance Digital Touchpoints: </a:t>
            </a:r>
          </a:p>
          <a:p>
            <a:pPr lvl="0"/>
            <a:r>
              <a:rPr lang="en-US" sz="1000" dirty="0">
                <a:effectLst/>
              </a:rPr>
              <a:t>Roll out user-friendly self-service client portals that facilitate smooth communication and effortless digital policy management.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Age-Specific Value Propositions: </a:t>
            </a:r>
          </a:p>
          <a:p>
            <a:pPr lvl="0"/>
            <a:r>
              <a:rPr lang="en-IN" sz="1000" dirty="0">
                <a:effectLst/>
              </a:rPr>
              <a:t>Build tailored communication channels for customers outside the peak 28–37 range to cultivate long-term brand loyalty across all age policy holders.</a:t>
            </a:r>
          </a:p>
          <a:p>
            <a:pPr lvl="0"/>
            <a:endParaRPr lang="en-IN" sz="1000" dirty="0">
              <a:effectLst/>
            </a:endParaRPr>
          </a:p>
          <a:p>
            <a:r>
              <a:rPr lang="en-IN" dirty="0">
                <a:effectLst/>
              </a:rPr>
              <a:t>3. Expand Cross-Selling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Leverage Top-Selling Health Products: </a:t>
            </a:r>
          </a:p>
          <a:p>
            <a:pPr lvl="0"/>
            <a:r>
              <a:rPr lang="en-IN" sz="1000" dirty="0">
                <a:effectLst/>
              </a:rPr>
              <a:t>Use the high volume of Health policy buyers as an entry point to cross-sell underrepresented lines like Auto, Life, and Property protection.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Bundle Underperforming Coverages: </a:t>
            </a:r>
          </a:p>
          <a:p>
            <a:pPr lvl="0"/>
            <a:r>
              <a:rPr lang="en-IN" sz="1000" dirty="0">
                <a:effectLst/>
              </a:rPr>
              <a:t>Package lower-selling products (such as Auto policies) with top-performing Health policies at attractive rates to increase overall product penetration per customer.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Segment-Based Cross-Sell Campaigns: </a:t>
            </a:r>
          </a:p>
          <a:p>
            <a:pPr lvl="0"/>
            <a:r>
              <a:rPr lang="en-IN" sz="1000" dirty="0">
                <a:effectLst/>
              </a:rPr>
              <a:t>Target male and 28–37 demographic segments with bundled multi-policy offers since they form the primary active customer baseline.</a:t>
            </a:r>
          </a:p>
          <a:p>
            <a:endParaRPr lang="en-IN" sz="1400" i="0" dirty="0"/>
          </a:p>
        </p:txBody>
      </p:sp>
      <p:pic>
        <p:nvPicPr>
          <p:cNvPr id="2" name="Picture 1" descr="Chess king png Images - Free Download on Magnific (formerly Freepik)">
            <a:extLst>
              <a:ext uri="{FF2B5EF4-FFF2-40B4-BE49-F238E27FC236}">
                <a16:creationId xmlns:a16="http://schemas.microsoft.com/office/drawing/2014/main" id="{51244599-3EBA-3BE0-3F7F-430C934A0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4270" y="1517265"/>
            <a:ext cx="1982162" cy="198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07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95214-D2F0-4079-DA53-79200459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EDDA737-BA54-5014-7B57-76EFE8483AB0}"/>
              </a:ext>
            </a:extLst>
          </p:cNvPr>
          <p:cNvSpPr txBox="1"/>
          <p:nvPr/>
        </p:nvSpPr>
        <p:spPr>
          <a:xfrm>
            <a:off x="1317521" y="371564"/>
            <a:ext cx="8082117" cy="318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52"/>
              </a:lnSpc>
            </a:pPr>
            <a:r>
              <a:rPr lang="en-IN" sz="4000" b="1" dirty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lus Jakarta Sans SemiBold"/>
              </a:rPr>
              <a:t>Strategic Recommendations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F79D45-2517-0AE6-75A1-C1B1EDADD2CD}"/>
              </a:ext>
            </a:extLst>
          </p:cNvPr>
          <p:cNvSpPr txBox="1"/>
          <p:nvPr/>
        </p:nvSpPr>
        <p:spPr>
          <a:xfrm>
            <a:off x="1094494" y="904272"/>
            <a:ext cx="986536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b="1" i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us Jakarta Sans SemiBold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0" dirty="0"/>
          </a:p>
          <a:p>
            <a:r>
              <a:rPr lang="en-IN" dirty="0">
                <a:effectLst/>
              </a:rPr>
              <a:t>4. Grow New Business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Diversify Demographic Acquisition: </a:t>
            </a:r>
          </a:p>
          <a:p>
            <a:pPr lvl="0"/>
            <a:r>
              <a:rPr lang="en-IN" sz="1000" dirty="0">
                <a:effectLst/>
              </a:rPr>
              <a:t>Develop tailored marketing campaigns to capture market share outside the dominant 28–37 age bracket and balance the gender acquisition funnel.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Revamp Growth Strategies Post-2022: </a:t>
            </a:r>
          </a:p>
          <a:p>
            <a:pPr lvl="0"/>
            <a:r>
              <a:rPr lang="en-IN" sz="1000" dirty="0">
                <a:effectLst/>
              </a:rPr>
              <a:t>Address the stagnation in premium growth rates following 2022 by introducing competitive pricing structures and modern insurance products.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Incentivize Digital-First Acquisition: </a:t>
            </a:r>
          </a:p>
          <a:p>
            <a:pPr lvl="0"/>
            <a:r>
              <a:rPr lang="en-IN" sz="1000" dirty="0">
                <a:effectLst/>
              </a:rPr>
              <a:t>Attract new, tech-savvy policy buyers by promoting frictionless digital onboarding and preferred payment methods.</a:t>
            </a:r>
          </a:p>
          <a:p>
            <a:pPr lvl="0"/>
            <a:endParaRPr lang="en-IN" sz="1000" dirty="0">
              <a:effectLst/>
            </a:endParaRPr>
          </a:p>
          <a:p>
            <a:r>
              <a:rPr lang="en-IN" dirty="0">
                <a:effectLst/>
              </a:rPr>
              <a:t>5. Maximize Client Retention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Address the 66.36% Inactivity Gap: </a:t>
            </a:r>
          </a:p>
          <a:p>
            <a:pPr lvl="0"/>
            <a:r>
              <a:rPr lang="en-IN" sz="1000" dirty="0">
                <a:effectLst/>
              </a:rPr>
              <a:t>Implement aggressive retention and policy-rescue workflows to convert the massive pool of inactive policies into active, revenue-generating accounts.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Mitigate 2025 Expiration Churn: </a:t>
            </a:r>
          </a:p>
          <a:p>
            <a:pPr lvl="0"/>
            <a:r>
              <a:rPr lang="en-IN" sz="1000" dirty="0">
                <a:effectLst/>
              </a:rPr>
              <a:t>Proactively target policies nearing their end year starting in 2025 through early renewal incentives, premium discounts, and policy reviews.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Re-engage Disengaged Male Demographics: </a:t>
            </a:r>
          </a:p>
          <a:p>
            <a:pPr lvl="0"/>
            <a:r>
              <a:rPr lang="en-IN" sz="1000" dirty="0">
                <a:effectLst/>
              </a:rPr>
              <a:t>Create specialized retention initiatives focused on male policyholders who exhibit higher rates of policy abandonment.</a:t>
            </a:r>
          </a:p>
          <a:p>
            <a:pPr lvl="0"/>
            <a:endParaRPr lang="en-IN" sz="1000" dirty="0">
              <a:effectLst/>
            </a:endParaRPr>
          </a:p>
          <a:p>
            <a:r>
              <a:rPr lang="en-IN" dirty="0">
                <a:effectLst/>
              </a:rPr>
              <a:t>6. Refine Sales Funnel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Overhaul Conversion Strategies for Non-Core Ages: </a:t>
            </a:r>
          </a:p>
          <a:p>
            <a:pPr lvl="0"/>
            <a:r>
              <a:rPr lang="en-IN" sz="1000" dirty="0">
                <a:effectLst/>
              </a:rPr>
              <a:t>Redesign the top of the funnel for age groups outside 28–37 by adapting product features, messaging, and pricing to better fit their unique life stages.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Frictionless Payment Integration at Checkout: </a:t>
            </a:r>
          </a:p>
          <a:p>
            <a:pPr lvl="0"/>
            <a:r>
              <a:rPr lang="en-IN" sz="1000" dirty="0">
                <a:effectLst/>
              </a:rPr>
              <a:t>Eliminate drop-offs in the sales funnel caused by outdated payment constraints by phasing out heavy reliance on cash and embedding instant digital payment options.</a:t>
            </a:r>
          </a:p>
          <a:p>
            <a:pPr lvl="0"/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Re-align Product Positioning: </a:t>
            </a:r>
          </a:p>
          <a:p>
            <a:pPr lvl="0"/>
            <a:r>
              <a:rPr lang="en-IN" sz="1000" dirty="0">
                <a:effectLst/>
              </a:rPr>
              <a:t>Focus marketing visibility on Health policies (the highest seller) while actively optimizing the conversion path for lagging products like Auto to balance portfolio distribution.</a:t>
            </a:r>
          </a:p>
          <a:p>
            <a:endParaRPr lang="en-IN" sz="1400" i="0" dirty="0"/>
          </a:p>
        </p:txBody>
      </p:sp>
      <p:pic>
        <p:nvPicPr>
          <p:cNvPr id="2" name="Picture 1" descr="Chess king png Images - Free Download on Magnific (formerly Freepik)">
            <a:extLst>
              <a:ext uri="{FF2B5EF4-FFF2-40B4-BE49-F238E27FC236}">
                <a16:creationId xmlns:a16="http://schemas.microsoft.com/office/drawing/2014/main" id="{620BF71B-3C4A-56F3-EF0C-2D0E92776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04438" y="1446838"/>
            <a:ext cx="1982162" cy="198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075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2D251F"/>
      </a:dk2>
      <a:lt2>
        <a:srgbClr val="FAE9C5"/>
      </a:lt2>
      <a:accent1>
        <a:srgbClr val="ED3846"/>
      </a:accent1>
      <a:accent2>
        <a:srgbClr val="F87184"/>
      </a:accent2>
      <a:accent3>
        <a:srgbClr val="EC9DA9"/>
      </a:accent3>
      <a:accent4>
        <a:srgbClr val="ECC190"/>
      </a:accent4>
      <a:accent5>
        <a:srgbClr val="FFB268"/>
      </a:accent5>
      <a:accent6>
        <a:srgbClr val="F98657"/>
      </a:accent6>
      <a:hlink>
        <a:srgbClr val="B97669"/>
      </a:hlink>
      <a:folHlink>
        <a:srgbClr val="9E94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BCCF8060-3FCB-4641-B728-8A589529B1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402</TotalTime>
  <Words>1468</Words>
  <Application>Microsoft Office PowerPoint</Application>
  <PresentationFormat>Widescreen</PresentationFormat>
  <Paragraphs>177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Alexandria</vt:lpstr>
      <vt:lpstr>Alexandria Medium</vt:lpstr>
      <vt:lpstr>Aptos</vt:lpstr>
      <vt:lpstr>Arial</vt:lpstr>
      <vt:lpstr>Arial Rounded MT Bold</vt:lpstr>
      <vt:lpstr>Bahnschrift</vt:lpstr>
      <vt:lpstr>Inter</vt:lpstr>
      <vt:lpstr>MS Shell Dlg 2</vt:lpstr>
      <vt:lpstr>Plus Jakarta Sans</vt:lpstr>
      <vt:lpstr>Plus Jakarta Sans SemiBold</vt:lpstr>
      <vt:lpstr>Wingdings</vt:lpstr>
      <vt:lpstr>Wingdings 3</vt:lpstr>
      <vt:lpstr>Madison</vt:lpstr>
      <vt:lpstr>Insurance Branch Analytics Dashboard </vt:lpstr>
      <vt:lpstr>Insurance Analytics Tools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Rohini C</dc:creator>
  <cp:lastModifiedBy>Rohini C</cp:lastModifiedBy>
  <cp:revision>58</cp:revision>
  <dcterms:created xsi:type="dcterms:W3CDTF">2026-07-24T13:49:23Z</dcterms:created>
  <dcterms:modified xsi:type="dcterms:W3CDTF">2026-08-01T12:30:48Z</dcterms:modified>
</cp:coreProperties>
</file>